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Source Sans 3 Bold" charset="1" panose="020B0303030403020204"/>
      <p:regular r:id="rId27"/>
    </p:embeddedFont>
    <p:embeddedFont>
      <p:font typeface="Cormorant Garamond Bold" charset="1" panose="00000800000000000000"/>
      <p:regular r:id="rId28"/>
    </p:embeddedFont>
    <p:embeddedFont>
      <p:font typeface="Source Sans 3 Italics" charset="1" panose="020B0303030403090204"/>
      <p:regular r:id="rId29"/>
    </p:embeddedFont>
    <p:embeddedFont>
      <p:font typeface="Source Sans 3" charset="1" panose="020B0303030403020204"/>
      <p:regular r:id="rId30"/>
    </p:embeddedFont>
    <p:embeddedFont>
      <p:font typeface="Arimo" charset="1" panose="020B0604020202020204"/>
      <p:regular r:id="rId39"/>
    </p:embeddedFont>
    <p:embeddedFont>
      <p:font typeface="Cormorant Garamond Italics" charset="1" panose="000005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(30 s) Boa tarde. Meu nome é Pedro Minella, sou aluno de Ciências Econômicas do Ibmec Brasília, e esta é a minha pesquisa de iniciação científica, orientada pelo professor Silvio Michael de Azevedo Costa. A pergunta do trabalho é simples: quanto de uma alta no preço internacional do petróleo chega à inflação brasileira, e em quanto tempo. A resposta curta é que depende da regra de preços dos combustíveis, e é isso que vou mostrar.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(75 s) Por que essa pergunta importa? Primeiro, porque os conflitos no Oriente Médio recolocaram o petróleo no centro do debate, e o Banco Central precisa saber de antemão quanto de um choque vai virar inflação. Segundo, porque o choque é comum: em 51 dos 272 meses da amostra, a variação do Brent igualou ou superou um desvio-padrão, cerca de duas vezes por ano. Terceiro, porque no Brasil a regra mudou: a Petrobras vendeu abaixo da referência de 2011 a 2014 e adotou a paridade de importação em 2016, por decisão administrativa. E a literatura deixa duas lacunas: trata a regulação de preços como fixa em cada país e raramente mede quanto do efeito passa, de fato, pelos combustíveis. São essas duas lacunas que o trabalho ocupa.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(45 s) A pergunta tem duas dimensões: magnitude e velocidade. O gráfico mostra a gasolina na refinaria, em vermelho, e ao consumidor, em laranja, contra a gasolina do Golfo dos Estados Unidos e o Brent, todos em reais e com base 100 em 2003. Até 2016 a linha vermelha anda em degraus, descolada da referência. Depois, passa a acompanhá-la de perto.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(75 s) Esta é a cronologia. De 2011 a 2014, contenção de preços, com perda de receita estimada em cerca de R$ 98 bilhões para a Petrobras. Em 14 de outubro de 2016, o anúncio da paridade de importação. Os dados, como vou mostrar, datam a mudança em março de 2017, cinco meses depois. Entre 2018 e 2022 houve intervenções pontuais, e em maio de 2023 a paridade terminou. O gráfico de baixo é a variação mensal do preço na refinaria: antes, o preço ficou parado em 16,6% dos meses, com variação mediana de 0,17%; depois, nenhum mês parado, e a variação mediana sobe para 4,27%. É o retrato de um preço administrado que vira um preço indexado.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(75 s) O que a literatura já sabe. Primeiro, quanto chega: em 72 economias, Choi e coautores estimam que uma alta de 10% no petróleo eleva a inflação em cerca de 0,4 ponto no ano, e que esse repasse caiu com a melhora da política monetária. Segundo, nem todo choque é igual: Kilian mostra que choques de oferta, de demanda global e de demanda precaucional têm efeitos diferentes. Terceiro, a regra importa: em até 125 economias, Akcura mostra que países com preço regulado repassam muito menos. Mas esses trabalhos tratam a regulação como fixa em cada país. O Brasil permite ver a mesma economia antes e depois de uma mudança de regra.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(75 s) Os dados são mensais, de janeiro de 2003 a setembro de 2025, 273 meses. O choque é a variação do Brent em dólares, padronizada: um choque típico é uma alta de 10,7%. Estimo seis séries, da gasolina na refinaria ao IPCA cheio. O método tem quatro passos: medir o choque; localizar a mudança com um teste de quebra, cuja data é estimada pelos próprios dados; comparar os regimes com projeções locais; e rastrear o efeito da refinaria até o IPCA, separando o canal dos combustíveis.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(90 s) Esta é a equação. À esquerda, quanto o nível de preços subiu h meses depois do choque. O coeficiente em verde é o repasse antes da mudança; o em vermelho, o repasse depois. O delta capta a mudança de nível entre os regimes, e os controles são três defasagens, câmbio, atividade, Selic, expectativa de inflação, sazonalidade e pandemia. Estimo uma regressão para cada horizonte, de 0 a 12 meses, nas seis séries. A data de corte é março de 2017, estimada pelos dados. E a pergunta central é o teste de Wald: o repasse antes é igual ao repasse depois? Se não for, a regra mudou o repasse.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(75 s) Como chegamos a março de 2017? Calculei a estatística de quebra para cada data candidata. O máximo é em março de 2017, com 58,1, contra um valor crítico de 42,9 a 5%. A faixa cinza mostra as datas compatíveis com os dados, de abril de 2016 a fevereiro de 2021. Ou seja, a data não é precisa ao mês, mas a mudança é clara. E se eu impuser a data do anúncio, outubro de 2016, o resultado se repete.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(90 s) Este é o resultado central. No mês do choque, o repasse ao IPCA era de 0,005 ponto percentual antes da mudança. Depois, fica entre 0,088 e 0,176, conforme o tratamento da pandemia. Mais importante que o número é o padrão: antes da paridade, nenhuma das 18 estimativas, que são seis séries em três horizontes, se distingue de zero. Depois, as 18 são significativas. E há um ponto metodológico: se eu não separar os regimes, o teste conjunto não rejeita a ausência de efeito no IPCA, com p de 0,194. A média da amostra inteira esconde a mudança.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(60 s) Olhando o IPCA cheio e o grupo Transportes lado a lado. No IPCA cheio, o impacto passa de 0,005 para 0,176, e o teste de Wald rejeita a igualdade com p de 0,001. No IPCA Transportes, que contém os combustíveis, o efeito é maior: passa de 0,065 para 0,675, com p menor que 0,001. Nas duas séries, a curva verde fica colada no zero e a vermelha salta já no primeiro mês.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(60 s) Quando e por onde o efeito passa. Quando: rápido, quase toda a resposta aparece nos dois primeiros meses. Por onde: pelos combustíveis. Em três meses, o canal dos combustíveis carrega 0,003 ponto antes e 0,249 depois. O gráfico mostra a gasolina na refinaria e ao consumidor: depois da mudança, a refinaria responde forte já no mês do choque, e a bomba acompanha. No próximo slide, separo esse efeito em dois caminhos.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(60 s) Dentro do canal dos combustíveis, há dois caminhos. O primeiro efeito é aritmético: gasolina, diesel e etanol estão na cesta do IPCA, então, se sobem, o índice sobe sem que nenhum outro preço mude. O segundo efeito é econômico: o combustível mais caro encarece frete e insumos, e preços que não são combustível também sobem. Calculo o primeiro efeito pelos pesos da cesta e estimo o segundo depois de tirar essa parcela do índice. No mês do choque, o primeiro efeito responde por 63% do total; em três meses, os dois se igualam; em seis meses, o segundo efeito já é 87%, e em doze, 80%. A ressalva: o segundo efeito não é significativo em três meses, com p de 0,124, e a significância depende do cenário de pesos. O que é firme é a trajetória: o efeito da cesta é imediato e se esgota; o de custos é mais lento e persiste.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(90 s) De que tamanho é isso? Fiz um exercício contrafactual: apliquei os choques de cada ano às duas regras e acumulei a contribuição ano a ano, reiniciando em janeiro, como o IPCA anual. Em 2021, a regra de paridade acrescentou 1,72 ponto, cerca de 18% do IPCA do ano, que foi de 10,06%. Em 2022, 1,15 ponto, cerca de 21% do IPCA de 5,79%. Em 2020, ano em que o petróleo despencou na pandemia, o sinal se inverte: pela conta, a paridade tirou 2,31 pontos do IPCA em relação à regra anterior. Mas esse é o número mais incerto: o modelo foi estimado sem os meses da pandemia e trata altas e quedas como iguais; com o índice de Oxford, seriam 0,63 ponto. Os intervalos são largos e o exercício é de equilíbrio parcial: mede a contribuição do petróleo, mantido o resto, e não diz qual teria sido a inflação.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(60 s) O Brasil no mapa. Com a base do Banco Mundial que acompanha o trabalho de Akcura, comparei 65 países na alta de abril de 2020 a junho de 2022, do vale ao pico do petróleo, a mesma janela daquele trabalho. Países com preço desregulado repassaram, na mediana, 0,798 da variação internacional; os regulados, 0,288, um repasse quase três vezes menor. O Brasil aparece com 0,868, entre os 25% maiores e em sexto na América Latina. É o mesmo mecanismo, agora entre países.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(75 s) Comparando com a literatura, em pontos por alta de 10% no petróleo. Antes da mudança, o Brasil era um caso extremo: Choi e coautores, com dados de 2000 a 2015, colocam o Brasil em último entre 71 economias. Depois, o Brasil se aproxima dos Estados Unidos: o IPCA sobe 0,33 ponto no pico, contra 0,4% no índice americano segundo Känzig. E no canal dos combustíveis, a estimativa de 0,23 em três meses cai dentro da calibração do Banco Central para 2021, de 0,20 a 0,27. Os métodos diferem, então é uma comparação de ordem de grandeza.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(75 s) Robustez. Primeiro, a endogeneidade: o Brent responde à demanda mundial, que também afeta a inflação brasileira, então trato o choque como endógeno, e os coeficientes como associações condicionais. Se o viés for igual nos dois regimes, ele se cancela na diferença; é uma hipótese. O Brasil é tomador de preço, e a proporção de meses de alta até cai depois, de 59,8% para 54,4%. Segundo, a variável instrumental. Para o choque, a surpresa de oferta da OPEP, de Känzig, é instrumento fraco, com F entre 2,2 e 6,6. Para os combustíveis, a margem de refino do diesel é forte depois de 2017, com F entre 19 e 31 do primeiro mês em diante, embora fique em 6,9 no próprio mês do choque. Com ela, o efeito dos combustíveis sobre o IPCA aparece em um e dois meses, sem efeito sobre os demais preços em até seis meses. Por fim, outras especificações: com a data do anúncio, 0,155; até o fim da paridade, 0,214; com a pandemia por índice de rigor, 0,088; e controlando a inflação global, 0,170. Em todas, o contraste se mantém.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(60 s) Para concluir: o repasse não é um parâmetro constante nas economias; no Brasil, ele é consequência da regra de formação de preços. Quanto: no mês do choque, o repasse ao IPCA passou de 0,005 para algo entre 0,088 e 0,176 ponto. Quando: quase todo nos dois primeiros meses. Por onde: pelos combustíveis. A implicação é que a calibragem do repasse precisa ser revista sempre que a regra muda, e que médias de amostras longas podem esconder regimes diferentes.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(15 s) Obrigado. Fico à disposição para as perguntas.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3000" y="1219200"/>
            <a:ext cx="762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pc="215" strike="noStrike" u="none">
                <a:solidFill>
                  <a:srgbClr val="B5562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INICIAÇÃO CIENTÍFICA  •  CIÊNCIAS ECONÔMICAS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2333625"/>
            <a:ext cx="14299922" cy="213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10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F7F4EE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 repasse do preço internacional do petróleo à inflação brasileira: o papel da regra de formação de preços de combustíveis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3000" y="5162550"/>
            <a:ext cx="152400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i="true" strike="noStrike" u="none">
                <a:solidFill>
                  <a:srgbClr val="E3A27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Quanto de uma alta no preço internacional do petróleo chega à inflação brasileira, e em quanto tempo?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7486650"/>
            <a:ext cx="4762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7F4E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Pedro Franck Minella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7991475"/>
            <a:ext cx="762000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9AAAB"/>
                </a:solidFill>
                <a:latin typeface="Source Sans 3"/>
                <a:ea typeface="Source Sans 3"/>
                <a:cs typeface="Source Sans 3"/>
                <a:sym typeface="Source Sans 3"/>
              </a:rPr>
              <a:t>Orientador: Prof. Silvio Michael de Azevedo Costa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9AAAB"/>
                </a:solidFill>
                <a:latin typeface="Source Sans 3"/>
                <a:ea typeface="Source Sans 3"/>
                <a:cs typeface="Source Sans 3"/>
                <a:sym typeface="Source Sans 3"/>
              </a:rPr>
              <a:t>Ciências Econômicas, Ibmec Brasília, 2026</a:t>
            </a:r>
          </a:p>
        </p:txBody>
      </p:sp>
      <p:sp>
        <p:nvSpPr>
          <p:cNvPr name="Freeform 7" id="7" descr="Logo do Ibmec"/>
          <p:cNvSpPr/>
          <p:nvPr/>
        </p:nvSpPr>
        <p:spPr>
          <a:xfrm flipH="false" flipV="false" rot="0">
            <a:off x="14287500" y="762000"/>
            <a:ext cx="2857500" cy="1171575"/>
          </a:xfrm>
          <a:custGeom>
            <a:avLst/>
            <a:gdLst/>
            <a:ahLst/>
            <a:cxnLst/>
            <a:rect r="r" b="b" t="t" l="l"/>
            <a:pathLst>
              <a:path h="1171575" w="2857500">
                <a:moveTo>
                  <a:pt x="0" y="0"/>
                </a:moveTo>
                <a:lnTo>
                  <a:pt x="2857500" y="0"/>
                </a:lnTo>
                <a:lnTo>
                  <a:pt x="2857500" y="1171575"/>
                </a:lnTo>
                <a:lnTo>
                  <a:pt x="0" y="1171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" r="0" b="-98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53500" y="5476875"/>
            <a:ext cx="8191500" cy="2667000"/>
            <a:chOff x="0" y="0"/>
            <a:chExt cx="10922000" cy="355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22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922000">
                  <a:moveTo>
                    <a:pt x="17721" y="0"/>
                  </a:moveTo>
                  <a:lnTo>
                    <a:pt x="10904279" y="0"/>
                  </a:lnTo>
                  <a:cubicBezTo>
                    <a:pt x="10914066" y="0"/>
                    <a:pt x="10922000" y="7934"/>
                    <a:pt x="10922000" y="17721"/>
                  </a:cubicBezTo>
                  <a:lnTo>
                    <a:pt x="10922000" y="3538279"/>
                  </a:lnTo>
                  <a:cubicBezTo>
                    <a:pt x="10922000" y="3548066"/>
                    <a:pt x="10914066" y="3556000"/>
                    <a:pt x="10904279" y="3556000"/>
                  </a:cubicBezTo>
                  <a:lnTo>
                    <a:pt x="17721" y="3556000"/>
                  </a:lnTo>
                  <a:cubicBezTo>
                    <a:pt x="7934" y="3556000"/>
                    <a:pt x="0" y="3548066"/>
                    <a:pt x="0" y="3538279"/>
                  </a:cubicBezTo>
                  <a:lnTo>
                    <a:pt x="0" y="17721"/>
                  </a:lnTo>
                  <a:cubicBezTo>
                    <a:pt x="0" y="7934"/>
                    <a:pt x="7934" y="0"/>
                    <a:pt x="17721" y="0"/>
                  </a:cubicBezTo>
                  <a:close/>
                </a:path>
              </a:pathLst>
            </a:custGeom>
            <a:solidFill>
              <a:srgbClr val="EEE6D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22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53500" y="2571750"/>
            <a:ext cx="8191500" cy="2667000"/>
            <a:chOff x="0" y="0"/>
            <a:chExt cx="10922000" cy="355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22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922000">
                  <a:moveTo>
                    <a:pt x="17721" y="0"/>
                  </a:moveTo>
                  <a:lnTo>
                    <a:pt x="10904279" y="0"/>
                  </a:lnTo>
                  <a:cubicBezTo>
                    <a:pt x="10914066" y="0"/>
                    <a:pt x="10922000" y="7934"/>
                    <a:pt x="10922000" y="17721"/>
                  </a:cubicBezTo>
                  <a:lnTo>
                    <a:pt x="10922000" y="3538279"/>
                  </a:lnTo>
                  <a:cubicBezTo>
                    <a:pt x="10922000" y="3548066"/>
                    <a:pt x="10914066" y="3556000"/>
                    <a:pt x="10904279" y="3556000"/>
                  </a:cubicBezTo>
                  <a:lnTo>
                    <a:pt x="17721" y="3556000"/>
                  </a:lnTo>
                  <a:cubicBezTo>
                    <a:pt x="7934" y="3556000"/>
                    <a:pt x="0" y="3548066"/>
                    <a:pt x="0" y="3538279"/>
                  </a:cubicBezTo>
                  <a:lnTo>
                    <a:pt x="0" y="17721"/>
                  </a:lnTo>
                  <a:cubicBezTo>
                    <a:pt x="0" y="7934"/>
                    <a:pt x="7934" y="0"/>
                    <a:pt x="177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22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7250" y="5476875"/>
            <a:ext cx="7810500" cy="2667000"/>
            <a:chOff x="0" y="0"/>
            <a:chExt cx="10414000" cy="355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414000">
                  <a:moveTo>
                    <a:pt x="18585" y="0"/>
                  </a:moveTo>
                  <a:lnTo>
                    <a:pt x="10395414" y="0"/>
                  </a:lnTo>
                  <a:cubicBezTo>
                    <a:pt x="10400343" y="0"/>
                    <a:pt x="10405071" y="1958"/>
                    <a:pt x="10408556" y="5444"/>
                  </a:cubicBezTo>
                  <a:cubicBezTo>
                    <a:pt x="10412042" y="8929"/>
                    <a:pt x="10414000" y="13656"/>
                    <a:pt x="10414000" y="18585"/>
                  </a:cubicBezTo>
                  <a:lnTo>
                    <a:pt x="10414000" y="3537415"/>
                  </a:lnTo>
                  <a:cubicBezTo>
                    <a:pt x="10414000" y="3542344"/>
                    <a:pt x="10412042" y="3547071"/>
                    <a:pt x="10408556" y="3550557"/>
                  </a:cubicBezTo>
                  <a:cubicBezTo>
                    <a:pt x="10405071" y="3554042"/>
                    <a:pt x="10400343" y="3556000"/>
                    <a:pt x="10395414" y="3556000"/>
                  </a:cubicBezTo>
                  <a:lnTo>
                    <a:pt x="18585" y="3556000"/>
                  </a:lnTo>
                  <a:cubicBezTo>
                    <a:pt x="13656" y="3556000"/>
                    <a:pt x="8929" y="3554042"/>
                    <a:pt x="5444" y="3550557"/>
                  </a:cubicBezTo>
                  <a:cubicBezTo>
                    <a:pt x="1958" y="3547071"/>
                    <a:pt x="0" y="3542344"/>
                    <a:pt x="0" y="3537415"/>
                  </a:cubicBezTo>
                  <a:lnTo>
                    <a:pt x="0" y="18585"/>
                  </a:lnTo>
                  <a:cubicBezTo>
                    <a:pt x="0" y="13656"/>
                    <a:pt x="1958" y="8929"/>
                    <a:pt x="5444" y="5444"/>
                  </a:cubicBezTo>
                  <a:cubicBezTo>
                    <a:pt x="8929" y="1958"/>
                    <a:pt x="13656" y="0"/>
                    <a:pt x="185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14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7250" y="2571750"/>
            <a:ext cx="7810500" cy="2667000"/>
            <a:chOff x="0" y="0"/>
            <a:chExt cx="10414000" cy="355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10414000">
                  <a:moveTo>
                    <a:pt x="18585" y="0"/>
                  </a:moveTo>
                  <a:lnTo>
                    <a:pt x="10395414" y="0"/>
                  </a:lnTo>
                  <a:cubicBezTo>
                    <a:pt x="10400343" y="0"/>
                    <a:pt x="10405071" y="1958"/>
                    <a:pt x="10408556" y="5444"/>
                  </a:cubicBezTo>
                  <a:cubicBezTo>
                    <a:pt x="10412042" y="8929"/>
                    <a:pt x="10414000" y="13656"/>
                    <a:pt x="10414000" y="18585"/>
                  </a:cubicBezTo>
                  <a:lnTo>
                    <a:pt x="10414000" y="3537415"/>
                  </a:lnTo>
                  <a:cubicBezTo>
                    <a:pt x="10414000" y="3542344"/>
                    <a:pt x="10412042" y="3547071"/>
                    <a:pt x="10408556" y="3550557"/>
                  </a:cubicBezTo>
                  <a:cubicBezTo>
                    <a:pt x="10405071" y="3554042"/>
                    <a:pt x="10400343" y="3556000"/>
                    <a:pt x="10395414" y="3556000"/>
                  </a:cubicBezTo>
                  <a:lnTo>
                    <a:pt x="18585" y="3556000"/>
                  </a:lnTo>
                  <a:cubicBezTo>
                    <a:pt x="13656" y="3556000"/>
                    <a:pt x="8929" y="3554042"/>
                    <a:pt x="5444" y="3550557"/>
                  </a:cubicBezTo>
                  <a:cubicBezTo>
                    <a:pt x="1958" y="3547071"/>
                    <a:pt x="0" y="3542344"/>
                    <a:pt x="0" y="3537415"/>
                  </a:cubicBezTo>
                  <a:lnTo>
                    <a:pt x="0" y="18585"/>
                  </a:lnTo>
                  <a:cubicBezTo>
                    <a:pt x="0" y="13656"/>
                    <a:pt x="1958" y="8929"/>
                    <a:pt x="5444" y="5444"/>
                  </a:cubicBezTo>
                  <a:cubicBezTo>
                    <a:pt x="8929" y="1958"/>
                    <a:pt x="13656" y="0"/>
                    <a:pt x="185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14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6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Introdução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3000" y="2790825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86000" y="2809875"/>
            <a:ext cx="571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Uma pergunta urgente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6000" y="3543300"/>
            <a:ext cx="6096000" cy="114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Conflitos no Oriente Médio recolocaram o petróleo no centro do debate. O Banco Central precisa saber, de antemão, qual repasse esperar.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3000" y="5648325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86000" y="5667375"/>
            <a:ext cx="571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Um choque comum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86000" y="6400800"/>
            <a:ext cx="6096000" cy="114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Em 51 dos 272 meses da amostra, a variação do Brent igualou ou superou um desvio-padrão: cerca de duas vezes por ano.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39250" y="2790825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82250" y="2809875"/>
            <a:ext cx="571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Uma regra que mudou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82250" y="3543300"/>
            <a:ext cx="6096000" cy="152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Petrobras vendeu abaixo da referência de 2011 a 2014 e adotou a paridade de importação em 2016, por decisão administrativa, não de mercado.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39250" y="5648325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82250" y="5667375"/>
            <a:ext cx="571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Duas lacunas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82250" y="6400800"/>
            <a:ext cx="6096000" cy="114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Objeto: a literatura trata a regulação de preços como fixa em cada país. Mecanismo: raramente mede quanto do efeito passa pelos combustíveis.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A pergunta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2905125"/>
            <a:ext cx="6096000" cy="222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Quanto de uma alta no preço internacional do petróleo chega à inflação brasileira, e em quanto tempo?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5581650"/>
            <a:ext cx="6096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 spc="179">
                <a:solidFill>
                  <a:srgbClr val="B5562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magnitude  ×  velocidade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02</a:t>
            </a:r>
          </a:p>
        </p:txBody>
      </p:sp>
      <p:sp>
        <p:nvSpPr>
          <p:cNvPr name="Freeform 12" id="12" descr="Preço da gasolina na refinaria e ao consumidor contra a gasolina do Golfo dos EUA e o Brent em reais, índice jan/2003 = 100, 2003 a 2025"/>
          <p:cNvSpPr/>
          <p:nvPr/>
        </p:nvSpPr>
        <p:spPr>
          <a:xfrm flipH="false" flipV="false" rot="0">
            <a:off x="7620000" y="2370419"/>
            <a:ext cx="10224698" cy="5725831"/>
          </a:xfrm>
          <a:custGeom>
            <a:avLst/>
            <a:gdLst/>
            <a:ahLst/>
            <a:cxnLst/>
            <a:rect r="r" b="b" t="t" l="l"/>
            <a:pathLst>
              <a:path h="5725831" w="10224698">
                <a:moveTo>
                  <a:pt x="0" y="0"/>
                </a:moveTo>
                <a:lnTo>
                  <a:pt x="10224698" y="0"/>
                </a:lnTo>
                <a:lnTo>
                  <a:pt x="10224698" y="5725831"/>
                </a:lnTo>
                <a:lnTo>
                  <a:pt x="0" y="5725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Por que o Brasil é um caso especial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1809750" y="3810000"/>
            <a:ext cx="14668500" cy="0"/>
          </a:xfrm>
          <a:prstGeom prst="line">
            <a:avLst/>
          </a:prstGeom>
          <a:ln cap="flat" w="28575">
            <a:solidFill>
              <a:srgbClr val="1F23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647950" y="3638550"/>
            <a:ext cx="342900" cy="342900"/>
            <a:chOff x="0" y="0"/>
            <a:chExt cx="457200" cy="45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F23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981700" y="3638550"/>
            <a:ext cx="342900" cy="342900"/>
            <a:chOff x="0" y="0"/>
            <a:chExt cx="45720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B556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15450" y="3638550"/>
            <a:ext cx="342900" cy="342900"/>
            <a:chOff x="0" y="0"/>
            <a:chExt cx="4572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F23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49200" y="3638550"/>
            <a:ext cx="342900" cy="342900"/>
            <a:chOff x="0" y="0"/>
            <a:chExt cx="457200" cy="45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F23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982950" y="3638550"/>
            <a:ext cx="342900" cy="342900"/>
            <a:chOff x="0" y="0"/>
            <a:chExt cx="457200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852" y="0"/>
                    <a:pt x="457200" y="102348"/>
                    <a:pt x="457200" y="228600"/>
                  </a:cubicBez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F23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28750" y="2124075"/>
            <a:ext cx="27622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2011 a 2014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8250" y="4248150"/>
            <a:ext cx="3143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5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F232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Contenção de preços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8250" y="4981575"/>
            <a:ext cx="3143250" cy="61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7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Abaixo da referência; perda de receita de cerca de R$ 98 bi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62500" y="2124075"/>
            <a:ext cx="27622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out/2016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72000" y="4248150"/>
            <a:ext cx="3143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5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F232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Paridade de importação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72000" y="4981575"/>
            <a:ext cx="3143250" cy="92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7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Anunciada em 14/10/2016; o preço passa a seguir a referência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96250" y="2124075"/>
            <a:ext cx="27622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mar/2017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905750" y="4248150"/>
            <a:ext cx="314325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5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F232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Quebra estimada pelos dados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05750" y="5048250"/>
            <a:ext cx="3143250" cy="3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7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Cinco meses após o anúncio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30000" y="2124075"/>
            <a:ext cx="27622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2018 a 2022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39500" y="4248150"/>
            <a:ext cx="3143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5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F232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Intervenções pontuais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39500" y="4981575"/>
            <a:ext cx="3143250" cy="61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7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Subvenção ao diesel em 2018 e desonerações em 2022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63750" y="2124075"/>
            <a:ext cx="27622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mai/2023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73250" y="4248150"/>
            <a:ext cx="3143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5"/>
              </a:lnSpc>
              <a:spcBef>
                <a:spcPct val="0"/>
              </a:spcBef>
            </a:pPr>
            <a:r>
              <a:rPr lang="en-US" b="true" sz="2025" strike="noStrike" u="none">
                <a:solidFill>
                  <a:srgbClr val="1F232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Fim da paridade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573250" y="4981575"/>
            <a:ext cx="3143250" cy="61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7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Nova estratégia comercial da Petrobras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03</a:t>
            </a:r>
          </a:p>
        </p:txBody>
      </p:sp>
      <p:sp>
        <p:nvSpPr>
          <p:cNvPr name="Freeform 41" id="41" descr="Variação mensal do preço da gasolina A na refinaria, sem tributos federais: antes de março de 2017 o preço ficou parado em 16,6% dos meses, depois em nenhum"/>
          <p:cNvSpPr/>
          <p:nvPr/>
        </p:nvSpPr>
        <p:spPr>
          <a:xfrm flipH="false" flipV="false" rot="0">
            <a:off x="1524000" y="6238875"/>
            <a:ext cx="15240000" cy="3429000"/>
          </a:xfrm>
          <a:custGeom>
            <a:avLst/>
            <a:gdLst/>
            <a:ahLst/>
            <a:cxnLst/>
            <a:rect r="r" b="b" t="t" l="l"/>
            <a:pathLst>
              <a:path h="3429000" w="15240000">
                <a:moveTo>
                  <a:pt x="0" y="0"/>
                </a:moveTo>
                <a:lnTo>
                  <a:pt x="15240000" y="0"/>
                </a:lnTo>
                <a:lnTo>
                  <a:pt x="15240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O que a literatura já sabe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5810250" y="2857500"/>
            <a:ext cx="0" cy="4667250"/>
          </a:xfrm>
          <a:prstGeom prst="line">
            <a:avLst/>
          </a:prstGeom>
          <a:ln cap="flat" w="19050">
            <a:solidFill>
              <a:srgbClr val="CFC8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144250" y="2857500"/>
            <a:ext cx="0" cy="4667250"/>
          </a:xfrm>
          <a:prstGeom prst="line">
            <a:avLst/>
          </a:prstGeom>
          <a:ln cap="flat" w="19050">
            <a:solidFill>
              <a:srgbClr val="CFC8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143000" y="2286000"/>
            <a:ext cx="40005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3238500"/>
            <a:ext cx="4191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0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Quanto chega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3971925"/>
            <a:ext cx="4476750" cy="258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Em 72 economias, uma alta de 10% no petróleo eleva a inflação em cerca de 0,4 ponto no ano, e o repasse caiu com a melhor política monetária. O repasse ao núcleo é mais forte em emergentes e menor onde o banco central é mais independente.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7629525"/>
            <a:ext cx="447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i="true" strike="noStrike" u="none">
                <a:solidFill>
                  <a:srgbClr val="6F6B65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Choi et al. (2018); Baba e Lee (2022)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77000" y="2286000"/>
            <a:ext cx="40005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86500" y="3238500"/>
            <a:ext cx="4191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0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Nem todo choque é igual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38875" y="3971925"/>
            <a:ext cx="4476750" cy="258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Choques de oferta, de demanda global e de demanda precaucional têm efeitos diferentes. Mudanças na composição dos choques ajudam a explicar por que regressões de inflação sobre o petróleo são instáveis.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77000" y="7629525"/>
            <a:ext cx="447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i="true" strike="noStrike" u="none">
                <a:solidFill>
                  <a:srgbClr val="6F6B65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Kilian (2009); Känzig (2021)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11000" y="2286000"/>
            <a:ext cx="40005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11000" y="3238500"/>
            <a:ext cx="4191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0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 regra importa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11000" y="3971925"/>
            <a:ext cx="4476750" cy="258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6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Em até 125 economias, países com preço regulado repassam muito menos. Mas a regulação é tratada como fixa em cada país, sem dizer quando nem por que um país passa a repassar mais. No Brasil, a regra mudou.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11000" y="7629525"/>
            <a:ext cx="447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i="true" strike="noStrike" u="none">
                <a:solidFill>
                  <a:srgbClr val="6F6B65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Akcura (2025); lacuna deste trabalho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Dados e método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3238500"/>
            <a:ext cx="3333750" cy="3714750"/>
            <a:chOff x="0" y="0"/>
            <a:chExt cx="4445000" cy="495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FC8B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445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91125" y="3238500"/>
            <a:ext cx="3333750" cy="3714750"/>
            <a:chOff x="0" y="0"/>
            <a:chExt cx="4445000" cy="495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EEE6DC"/>
            </a:solidFill>
            <a:ln w="9525" cap="sq">
              <a:solidFill>
                <a:srgbClr val="CFC8B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45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39250" y="3238500"/>
            <a:ext cx="3333750" cy="3714750"/>
            <a:chOff x="0" y="0"/>
            <a:chExt cx="4445000" cy="495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FC8B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445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87375" y="3238500"/>
            <a:ext cx="3333750" cy="3714750"/>
            <a:chOff x="0" y="0"/>
            <a:chExt cx="4445000" cy="495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FC8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445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66850" y="3324225"/>
            <a:ext cx="2667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6850" y="4286250"/>
            <a:ext cx="26860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Medir o choque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850" y="4867275"/>
            <a:ext cx="2857500" cy="139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Brent em dólares, variação mensal padronizada: um choque típico é alta de 10,7%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14975" y="3324225"/>
            <a:ext cx="2667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14975" y="4286250"/>
            <a:ext cx="26860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Localizar a mudança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14975" y="4867275"/>
            <a:ext cx="285750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Teste de quebra de Andrews (1993), com valores críticos por reamostragem (Hansen, 2000)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63100" y="3324225"/>
            <a:ext cx="2667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63100" y="4286250"/>
            <a:ext cx="26860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Comparar regimes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63100" y="4867275"/>
            <a:ext cx="2857500" cy="139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Projeções locais (Jordà, 2005): uma regressão por horizonte, com repasse próprio em cada regime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11225" y="3324225"/>
            <a:ext cx="2667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11225" y="4286250"/>
            <a:ext cx="26860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Rastrear o efeito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11225" y="4867275"/>
            <a:ext cx="2857500" cy="139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 refinaria à bomba e ao IPCA, de 0 a 12 meses, separando o canal dos combustíveis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7248525"/>
            <a:ext cx="15478125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Dados mensais de janeiro de 2003 a setembro de 2025 (273 meses). Seis séries: gasolina A na refinaria (ANP, sem tributos federais); gasolina, diesel e etanol ao consumidor; IPCA e IPCA Transportes. Controles defasados: câmbio, atividade, meta Selic e expectativa de inflação. O Brent do Ipeadata foi conferido com o da EIA: correlação de 0,995 entre os choques.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6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O modelo: projeções locais por regime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6286500"/>
            <a:ext cx="3333750" cy="3143250"/>
            <a:chOff x="0" y="0"/>
            <a:chExt cx="4445000" cy="419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FC8B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445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91125" y="6286500"/>
            <a:ext cx="3333750" cy="3143250"/>
            <a:chOff x="0" y="0"/>
            <a:chExt cx="4445000" cy="419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EEE6DC"/>
            </a:solidFill>
            <a:ln w="9525" cap="sq">
              <a:solidFill>
                <a:srgbClr val="CFC8B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45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39250" y="6286500"/>
            <a:ext cx="3333750" cy="3143250"/>
            <a:chOff x="0" y="0"/>
            <a:chExt cx="4445000" cy="419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FC8B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445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87375" y="6286500"/>
            <a:ext cx="3333750" cy="3143250"/>
            <a:chOff x="0" y="0"/>
            <a:chExt cx="4445000" cy="419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FC8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445000" cy="422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66850" y="6324600"/>
            <a:ext cx="2667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6850" y="7267575"/>
            <a:ext cx="26860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séries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850" y="7791450"/>
            <a:ext cx="285750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 gasolina na refinaria ao IPCA cheio, passando pela bomba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14975" y="6324600"/>
            <a:ext cx="2667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13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14975" y="7267575"/>
            <a:ext cx="26860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horizontes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14975" y="7791450"/>
            <a:ext cx="285750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De 0 a 12 meses após o choque, uma regressão para cada um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63100" y="6324600"/>
            <a:ext cx="2667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mar/2017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63100" y="7267575"/>
            <a:ext cx="26860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data de corte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63100" y="7791450"/>
            <a:ext cx="285750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data que separa os regimes foi estimada pelos dados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11225" y="6324600"/>
            <a:ext cx="2667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Wald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11225" y="7267575"/>
            <a:ext cx="26860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 teste central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11225" y="7791450"/>
            <a:ext cx="2857500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O repasse antes é igual ao repasse depois? Se não, a regra mudou o repasse.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06</a:t>
            </a:r>
          </a:p>
        </p:txBody>
      </p:sp>
      <p:sp>
        <p:nvSpPr>
          <p:cNvPr name="Freeform 34" id="34" descr="Equação das projeções locais por regime, com o repasse antes e depois da mudança destacados"/>
          <p:cNvSpPr/>
          <p:nvPr/>
        </p:nvSpPr>
        <p:spPr>
          <a:xfrm flipH="false" flipV="false" rot="0">
            <a:off x="1143000" y="2047875"/>
            <a:ext cx="16002000" cy="3857625"/>
          </a:xfrm>
          <a:custGeom>
            <a:avLst/>
            <a:gdLst/>
            <a:ahLst/>
            <a:cxnLst/>
            <a:rect r="r" b="b" t="t" l="l"/>
            <a:pathLst>
              <a:path h="3857625" w="16002000">
                <a:moveTo>
                  <a:pt x="0" y="0"/>
                </a:moveTo>
                <a:lnTo>
                  <a:pt x="16002000" y="0"/>
                </a:lnTo>
                <a:lnTo>
                  <a:pt x="160020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" t="0" r="-223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A data não foi escolhida, foi estimada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954000" y="3257550"/>
            <a:ext cx="3810000" cy="92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2"/>
              </a:lnSpc>
              <a:spcBef>
                <a:spcPct val="0"/>
              </a:spcBef>
            </a:pPr>
            <a:r>
              <a:rPr lang="en-US" b="true" sz="3225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Data estimada:</a:t>
            </a:r>
          </a:p>
          <a:p>
            <a:pPr algn="l" marL="0" indent="0" lvl="0">
              <a:lnSpc>
                <a:spcPts val="3612"/>
              </a:lnSpc>
              <a:spcBef>
                <a:spcPct val="0"/>
              </a:spcBef>
            </a:pPr>
            <a:r>
              <a:rPr lang="en-US" b="true" sz="3225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março de 2017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54000" y="4914900"/>
            <a:ext cx="4000500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Estatística de 58,1 contra valor crítico de 42,9 a 5% (linha pontilhada). Faixa compatível com os dados: abril de 2016 a fevereiro de 2021. Impondo a data do anúncio, outubro de 2016, o resultado se repete.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07</a:t>
            </a:r>
          </a:p>
        </p:txBody>
      </p:sp>
      <p:sp>
        <p:nvSpPr>
          <p:cNvPr name="Freeform 12" id="12" descr="Perfil da estatística de quebra para as quatro séries principais, com máximo em março de 2017 (58,1) acima do valor crítico de 5% (42,9)"/>
          <p:cNvSpPr/>
          <p:nvPr/>
        </p:nvSpPr>
        <p:spPr>
          <a:xfrm flipH="false" flipV="false" rot="0">
            <a:off x="1143000" y="2571750"/>
            <a:ext cx="11239500" cy="5715000"/>
          </a:xfrm>
          <a:custGeom>
            <a:avLst/>
            <a:gdLst/>
            <a:ahLst/>
            <a:cxnLst/>
            <a:rect r="r" b="b" t="t" l="l"/>
            <a:pathLst>
              <a:path h="5715000" w="11239500">
                <a:moveTo>
                  <a:pt x="0" y="0"/>
                </a:moveTo>
                <a:lnTo>
                  <a:pt x="11239500" y="0"/>
                </a:lnTo>
                <a:lnTo>
                  <a:pt x="112395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08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O resultado central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2857500"/>
            <a:ext cx="44767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9"/>
              </a:lnSpc>
            </a:pPr>
            <a:r>
              <a:rPr lang="en-US" sz="78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0,005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4000" y="2752725"/>
            <a:ext cx="142875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>
                <a:solidFill>
                  <a:srgbClr val="CFC8BD"/>
                </a:solidFill>
                <a:latin typeface="Source Sans 3"/>
                <a:ea typeface="Source Sans 3"/>
                <a:cs typeface="Source Sans 3"/>
                <a:sym typeface="Source Sans 3"/>
              </a:rPr>
              <a:t>→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9000" y="2857500"/>
            <a:ext cx="90487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9"/>
              </a:lnSpc>
            </a:pPr>
            <a:r>
              <a:rPr lang="en-US" sz="78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0,088 a 0,176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3867150"/>
            <a:ext cx="11430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ponto percentual no IPCA no mês do choque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2343150"/>
            <a:ext cx="285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2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ANTES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9000" y="2343150"/>
            <a:ext cx="285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52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DEPOIS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08</a:t>
            </a:r>
          </a:p>
        </p:txBody>
      </p:sp>
      <p:sp>
        <p:nvSpPr>
          <p:cNvPr name="Freeform 16" id="16" descr="Resposta acumulada do IPCA cheio a um choque de petróleo, antes e depois de março de 2017, de 0 a 12 meses, com faixas de 90%"/>
          <p:cNvSpPr/>
          <p:nvPr/>
        </p:nvSpPr>
        <p:spPr>
          <a:xfrm flipH="false" flipV="false" rot="0">
            <a:off x="952500" y="4524375"/>
            <a:ext cx="7239000" cy="4191000"/>
          </a:xfrm>
          <a:custGeom>
            <a:avLst/>
            <a:gdLst/>
            <a:ahLst/>
            <a:cxnLst/>
            <a:rect r="r" b="b" t="t" l="l"/>
            <a:pathLst>
              <a:path h="4191000" w="7239000">
                <a:moveTo>
                  <a:pt x="0" y="0"/>
                </a:moveTo>
                <a:lnTo>
                  <a:pt x="7239000" y="0"/>
                </a:lnTo>
                <a:lnTo>
                  <a:pt x="7239000" y="4191000"/>
                </a:lnTo>
                <a:lnTo>
                  <a:pt x="0" y="419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63000" y="5229225"/>
            <a:ext cx="8382000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1F2328"/>
                </a:solidFill>
                <a:latin typeface="Arimo"/>
                <a:ea typeface="Arimo"/>
                <a:cs typeface="Arimo"/>
                <a:sym typeface="Arimo"/>
              </a:rPr>
              <a:t>Antes da paridade: 0 de 18 estimativas distinguíveis de zero.</a:t>
            </a:r>
          </a:p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1F2328"/>
                </a:solidFill>
                <a:latin typeface="Arimo"/>
                <a:ea typeface="Arimo"/>
                <a:cs typeface="Arimo"/>
                <a:sym typeface="Arimo"/>
              </a:rPr>
              <a:t>Depois: 18 de 18 significativas.</a:t>
            </a:r>
          </a:p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1F2328"/>
                </a:solidFill>
                <a:latin typeface="Arimo"/>
                <a:ea typeface="Arimo"/>
                <a:cs typeface="Arimo"/>
                <a:sym typeface="Arimo"/>
              </a:rPr>
              <a:t>Sem separar os regimes, o efeito não aparece no IPCA (p = 0,194).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8943975"/>
            <a:ext cx="16002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F6B65"/>
                </a:solidFill>
                <a:latin typeface="Arimo"/>
                <a:ea typeface="Arimo"/>
                <a:cs typeface="Arimo"/>
                <a:sym typeface="Arimo"/>
              </a:rPr>
              <a:t>Resposta acumulada do IPCA, em pontos percentuais, com faixas de 90%. As 18 estimativas: seis séries nos horizontes de 0, 1 e 3 meses.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09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6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O impacto no IPCA e no IPCA Transportes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1847850"/>
            <a:ext cx="619125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IPCA cheio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809875"/>
            <a:ext cx="59055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mês do choque: 0,005 antes, 0,176 depois (Wald, p = 0,001).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1847850"/>
            <a:ext cx="7620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IPCA Transportes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0" y="2809875"/>
            <a:ext cx="657225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mês do choque: 0,065 antes, 0,675 depois (Wald, p &lt; 0,001).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8772525"/>
            <a:ext cx="1600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i="true" strike="noStrike" u="none">
                <a:solidFill>
                  <a:srgbClr val="1F2328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Choque de um desvio-padrão no Brent (+10,7%). Antes de mar/2017, nenhum coeficiente se distingue de zero; depois, todos são significativos até três meses.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09</a:t>
            </a:r>
          </a:p>
        </p:txBody>
      </p:sp>
      <p:sp>
        <p:nvSpPr>
          <p:cNvPr name="Freeform 15" id="15" descr="Resposta acumulada do IPCA cheio e do IPCA Transportes a um choque de petróleo, antes e depois de março de 2017, de 0 a 12 meses, com faixas de 90%"/>
          <p:cNvSpPr/>
          <p:nvPr/>
        </p:nvSpPr>
        <p:spPr>
          <a:xfrm flipH="false" flipV="false" rot="0">
            <a:off x="1524000" y="3857625"/>
            <a:ext cx="15240000" cy="4762500"/>
          </a:xfrm>
          <a:custGeom>
            <a:avLst/>
            <a:gdLst/>
            <a:ahLst/>
            <a:cxnLst/>
            <a:rect r="r" b="b" t="t" l="l"/>
            <a:pathLst>
              <a:path h="4762500" w="15240000">
                <a:moveTo>
                  <a:pt x="0" y="0"/>
                </a:moveTo>
                <a:lnTo>
                  <a:pt x="15240000" y="0"/>
                </a:lnTo>
                <a:lnTo>
                  <a:pt x="152400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10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Quando e por onde o efeito passa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1847850"/>
            <a:ext cx="619125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rápido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809875"/>
            <a:ext cx="59055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Quase toda a resposta aparece nos dois primeiros meses após o choque.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1847850"/>
            <a:ext cx="7620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combustíveis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0" y="2809875"/>
            <a:ext cx="657225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Canal dos combustíveis em três meses: 0,003 ponto antes, 0,249 depois.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8772525"/>
            <a:ext cx="1600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i="true" strike="noStrike" u="none">
                <a:solidFill>
                  <a:srgbClr val="1F2328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Choque de um desvio-padrão no Brent (+10,7%), com faixas de 90%.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10</a:t>
            </a:r>
          </a:p>
        </p:txBody>
      </p:sp>
      <p:sp>
        <p:nvSpPr>
          <p:cNvPr name="Freeform 15" id="15" descr="Resposta acumulada da gasolina na refinaria e ao consumidor a um choque de petróleo, antes e depois de março de 2017, com faixas de 90%"/>
          <p:cNvSpPr/>
          <p:nvPr/>
        </p:nvSpPr>
        <p:spPr>
          <a:xfrm flipH="false" flipV="false" rot="0">
            <a:off x="1524000" y="4333875"/>
            <a:ext cx="15240000" cy="4286250"/>
          </a:xfrm>
          <a:custGeom>
            <a:avLst/>
            <a:gdLst/>
            <a:ahLst/>
            <a:cxnLst/>
            <a:rect r="r" b="b" t="t" l="l"/>
            <a:pathLst>
              <a:path h="4286250" w="15240000">
                <a:moveTo>
                  <a:pt x="0" y="0"/>
                </a:moveTo>
                <a:lnTo>
                  <a:pt x="15240000" y="0"/>
                </a:lnTo>
                <a:lnTo>
                  <a:pt x="152400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6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Primeiro e segundo efeito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1847850"/>
            <a:ext cx="619125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primeiro efeito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809875"/>
            <a:ext cx="59055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No mês do choque, 63% do efeito: o combustível pesa direto na cesta do IPCA.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1847850"/>
            <a:ext cx="7620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segundo efeito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0" y="2809875"/>
            <a:ext cx="657225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Em seis meses, 87% do efeito: frete e insumos encarecem os demais preços.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8772525"/>
            <a:ext cx="1600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i="true" strike="noStrike" u="none">
                <a:solidFill>
                  <a:srgbClr val="1F2328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Regime posterior a mar/2017, cenário central de pesos. O segundo efeito é significativo a 10% em todos os horizontes do gráfico, menos em 3 meses (p = 0,124).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11</a:t>
            </a:r>
          </a:p>
        </p:txBody>
      </p:sp>
      <p:sp>
        <p:nvSpPr>
          <p:cNvPr name="Freeform 15" id="15" descr="Decomposição do efeito no IPCA em primeiro e segundo efeito, regime posterior a março de 2017: o primeiro efeito passa de 63% no mês do choque para 13% em seis meses"/>
          <p:cNvSpPr/>
          <p:nvPr/>
        </p:nvSpPr>
        <p:spPr>
          <a:xfrm flipH="false" flipV="false" rot="0">
            <a:off x="1524000" y="4333875"/>
            <a:ext cx="15240000" cy="4286250"/>
          </a:xfrm>
          <a:custGeom>
            <a:avLst/>
            <a:gdLst/>
            <a:ahLst/>
            <a:cxnLst/>
            <a:rect r="r" b="b" t="t" l="l"/>
            <a:pathLst>
              <a:path h="4286250" w="15240000">
                <a:moveTo>
                  <a:pt x="0" y="0"/>
                </a:moveTo>
                <a:lnTo>
                  <a:pt x="15240000" y="0"/>
                </a:lnTo>
                <a:lnTo>
                  <a:pt x="152400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De que tamanho é isso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352675" y="2324100"/>
            <a:ext cx="436245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168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Exercício contrafactual por ano civil, reiniciado em janeiro como o IPCA anual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05675" y="2143125"/>
            <a:ext cx="190500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0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1,72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58300" y="2390775"/>
            <a:ext cx="240982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ponto a mais em 2021 pela regra: 18% do IPCA (10,06%)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8200" y="2143125"/>
            <a:ext cx="190500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0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1,15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20825" y="2390775"/>
            <a:ext cx="240030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ponto a mais em 2022 pela regra: 21% do IPCA (5,79%)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8820150"/>
            <a:ext cx="1600200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Intervalos de 90% da diferença: −5,06 a 0,30 ponto em 2020, 0,15 a 3,42 em 2021 e −0,50 a 2,88 em 2022. Equilíbrio parcial: mede a contribuição do petróleo, não a inflação que teria ocorrido.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12</a:t>
            </a:r>
          </a:p>
        </p:txBody>
      </p:sp>
      <p:sp>
        <p:nvSpPr>
          <p:cNvPr name="Freeform 16" id="16" descr="Contribuição dos choques de petróleo ao IPCA em 2020, 2021 e 2022, acumulada no ano e reiniciada em janeiro, sob a regra de paridade e sob a regra anterior"/>
          <p:cNvSpPr/>
          <p:nvPr/>
        </p:nvSpPr>
        <p:spPr>
          <a:xfrm flipH="false" flipV="false" rot="0">
            <a:off x="1524000" y="3714750"/>
            <a:ext cx="15240000" cy="5048250"/>
          </a:xfrm>
          <a:custGeom>
            <a:avLst/>
            <a:gdLst/>
            <a:ahLst/>
            <a:cxnLst/>
            <a:rect r="r" b="b" t="t" l="l"/>
            <a:pathLst>
              <a:path h="5048250" w="15240000">
                <a:moveTo>
                  <a:pt x="0" y="0"/>
                </a:moveTo>
                <a:lnTo>
                  <a:pt x="15240000" y="0"/>
                </a:lnTo>
                <a:lnTo>
                  <a:pt x="15240000" y="5048250"/>
                </a:lnTo>
                <a:lnTo>
                  <a:pt x="0" y="504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6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O Brasil no mapa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2619375"/>
            <a:ext cx="28575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9"/>
              </a:lnSpc>
            </a:pPr>
            <a:r>
              <a:rPr lang="en-US" sz="78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65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3486150"/>
            <a:ext cx="285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países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4286250"/>
            <a:ext cx="42862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abr. 2020  a  jun. 2022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5286375"/>
            <a:ext cx="3359411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Preço desregulado: repasse mediano de 0,798.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Regulado: 0,288.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Brasil: 0,868, entre os 25% maiores e 6º na América Latina.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13</a:t>
            </a:r>
          </a:p>
        </p:txBody>
      </p:sp>
      <p:sp>
        <p:nvSpPr>
          <p:cNvPr name="Freeform 14" id="14" descr="Repasse do preço internacional ao varejo em 65 países, abril de 2020 a junho de 2022, por regra de preço: mediana 0,798 nos desregulados e 0,288 nos regulados; Brasil 0,868"/>
          <p:cNvSpPr/>
          <p:nvPr/>
        </p:nvSpPr>
        <p:spPr>
          <a:xfrm flipH="false" flipV="false" rot="0">
            <a:off x="8572500" y="2238375"/>
            <a:ext cx="7905750" cy="6477000"/>
          </a:xfrm>
          <a:custGeom>
            <a:avLst/>
            <a:gdLst/>
            <a:ahLst/>
            <a:cxnLst/>
            <a:rect r="r" b="b" t="t" l="l"/>
            <a:pathLst>
              <a:path h="6477000" w="7905750">
                <a:moveTo>
                  <a:pt x="0" y="0"/>
                </a:moveTo>
                <a:lnTo>
                  <a:pt x="7905750" y="0"/>
                </a:lnTo>
                <a:lnTo>
                  <a:pt x="790575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6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O resultado à luz da literatura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1847850"/>
            <a:ext cx="619125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antes: o último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2809875"/>
            <a:ext cx="590550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 2000 a 2015, o Brasil ficou em último entre 71 economias em Choi et al. (2018).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1847850"/>
            <a:ext cx="7620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depois: perto dos EUA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0" y="2809875"/>
            <a:ext cx="657225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4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Sob a paridade, 0,33 p.p. no pico; nos EUA, 0,4% (Känzig, 2021).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9086850"/>
            <a:ext cx="1600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i="true" strike="noStrike" u="none">
                <a:solidFill>
                  <a:srgbClr val="1F2328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Pontos percentuais por alta de 10% no petróleo (coeficientes deste trabalho × 10/10,7). Métodos e amostras diferem: comparação de ordem de grandeza.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14</a:t>
            </a:r>
          </a:p>
        </p:txBody>
      </p:sp>
      <p:sp>
        <p:nvSpPr>
          <p:cNvPr name="Freeform 15" id="15" descr="Comparação do repasse estimado com a literatura, em pontos percentuais por alta de 10% no petróleo: no mês do choque, em um ano ou no pico, e no canal dos combustíveis"/>
          <p:cNvSpPr/>
          <p:nvPr/>
        </p:nvSpPr>
        <p:spPr>
          <a:xfrm flipH="false" flipV="false" rot="0">
            <a:off x="1143000" y="3667125"/>
            <a:ext cx="16002000" cy="5334000"/>
          </a:xfrm>
          <a:custGeom>
            <a:avLst/>
            <a:gdLst/>
            <a:ahLst/>
            <a:cxnLst/>
            <a:rect r="r" b="b" t="t" l="l"/>
            <a:pathLst>
              <a:path h="5334000" w="16002000">
                <a:moveTo>
                  <a:pt x="0" y="0"/>
                </a:moveTo>
                <a:lnTo>
                  <a:pt x="16002000" y="0"/>
                </a:lnTo>
                <a:lnTo>
                  <a:pt x="160020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476875"/>
            <a:ext cx="16287750" cy="2047875"/>
            <a:chOff x="0" y="0"/>
            <a:chExt cx="21717000" cy="273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17000" cy="2730500"/>
            </a:xfrm>
            <a:custGeom>
              <a:avLst/>
              <a:gdLst/>
              <a:ahLst/>
              <a:cxnLst/>
              <a:rect r="r" b="b" t="t" l="l"/>
              <a:pathLst>
                <a:path h="2730500" w="21717000">
                  <a:moveTo>
                    <a:pt x="8912" y="0"/>
                  </a:moveTo>
                  <a:lnTo>
                    <a:pt x="21708087" y="0"/>
                  </a:lnTo>
                  <a:cubicBezTo>
                    <a:pt x="21713010" y="0"/>
                    <a:pt x="21717000" y="3990"/>
                    <a:pt x="21717000" y="8912"/>
                  </a:cubicBezTo>
                  <a:lnTo>
                    <a:pt x="21717000" y="2721588"/>
                  </a:lnTo>
                  <a:cubicBezTo>
                    <a:pt x="21717000" y="2726510"/>
                    <a:pt x="21713010" y="2730500"/>
                    <a:pt x="21708087" y="2730500"/>
                  </a:cubicBezTo>
                  <a:lnTo>
                    <a:pt x="8912" y="2730500"/>
                  </a:lnTo>
                  <a:cubicBezTo>
                    <a:pt x="3990" y="2730500"/>
                    <a:pt x="0" y="2726510"/>
                    <a:pt x="0" y="2721588"/>
                  </a:cubicBezTo>
                  <a:lnTo>
                    <a:pt x="0" y="8912"/>
                  </a:lnTo>
                  <a:cubicBezTo>
                    <a:pt x="0" y="3990"/>
                    <a:pt x="3990" y="0"/>
                    <a:pt x="8912" y="0"/>
                  </a:cubicBezTo>
                  <a:close/>
                </a:path>
              </a:pathLst>
            </a:custGeom>
            <a:solidFill>
              <a:srgbClr val="EEE6D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17000" cy="276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53500" y="2571750"/>
            <a:ext cx="8191500" cy="2714625"/>
            <a:chOff x="0" y="0"/>
            <a:chExt cx="10922000" cy="3619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220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10922000">
                  <a:moveTo>
                    <a:pt x="17721" y="0"/>
                  </a:moveTo>
                  <a:lnTo>
                    <a:pt x="10904279" y="0"/>
                  </a:lnTo>
                  <a:cubicBezTo>
                    <a:pt x="10914066" y="0"/>
                    <a:pt x="10922000" y="7934"/>
                    <a:pt x="10922000" y="17721"/>
                  </a:cubicBezTo>
                  <a:lnTo>
                    <a:pt x="10922000" y="3601779"/>
                  </a:lnTo>
                  <a:cubicBezTo>
                    <a:pt x="10922000" y="3611566"/>
                    <a:pt x="10914066" y="3619500"/>
                    <a:pt x="10904279" y="3619500"/>
                  </a:cubicBezTo>
                  <a:lnTo>
                    <a:pt x="17721" y="3619500"/>
                  </a:lnTo>
                  <a:cubicBezTo>
                    <a:pt x="7934" y="3619500"/>
                    <a:pt x="0" y="3611566"/>
                    <a:pt x="0" y="3601779"/>
                  </a:cubicBezTo>
                  <a:lnTo>
                    <a:pt x="0" y="17721"/>
                  </a:lnTo>
                  <a:cubicBezTo>
                    <a:pt x="0" y="7934"/>
                    <a:pt x="7934" y="0"/>
                    <a:pt x="177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22000" cy="365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7250" y="2571750"/>
            <a:ext cx="7810500" cy="2714625"/>
            <a:chOff x="0" y="0"/>
            <a:chExt cx="10414000" cy="3619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10414000">
                  <a:moveTo>
                    <a:pt x="18585" y="0"/>
                  </a:moveTo>
                  <a:lnTo>
                    <a:pt x="10395414" y="0"/>
                  </a:lnTo>
                  <a:cubicBezTo>
                    <a:pt x="10400343" y="0"/>
                    <a:pt x="10405071" y="1958"/>
                    <a:pt x="10408556" y="5444"/>
                  </a:cubicBezTo>
                  <a:cubicBezTo>
                    <a:pt x="10412042" y="8929"/>
                    <a:pt x="10414000" y="13656"/>
                    <a:pt x="10414000" y="18585"/>
                  </a:cubicBezTo>
                  <a:lnTo>
                    <a:pt x="10414000" y="3600915"/>
                  </a:lnTo>
                  <a:cubicBezTo>
                    <a:pt x="10414000" y="3605844"/>
                    <a:pt x="10412042" y="3610571"/>
                    <a:pt x="10408556" y="3614057"/>
                  </a:cubicBezTo>
                  <a:cubicBezTo>
                    <a:pt x="10405071" y="3617542"/>
                    <a:pt x="10400343" y="3619500"/>
                    <a:pt x="10395414" y="3619500"/>
                  </a:cubicBezTo>
                  <a:lnTo>
                    <a:pt x="18585" y="3619500"/>
                  </a:lnTo>
                  <a:cubicBezTo>
                    <a:pt x="13656" y="3619500"/>
                    <a:pt x="8929" y="3617542"/>
                    <a:pt x="5444" y="3614057"/>
                  </a:cubicBezTo>
                  <a:cubicBezTo>
                    <a:pt x="1958" y="3610571"/>
                    <a:pt x="0" y="3605844"/>
                    <a:pt x="0" y="3600915"/>
                  </a:cubicBezTo>
                  <a:lnTo>
                    <a:pt x="0" y="18585"/>
                  </a:lnTo>
                  <a:cubicBezTo>
                    <a:pt x="0" y="13656"/>
                    <a:pt x="1958" y="8929"/>
                    <a:pt x="5444" y="5444"/>
                  </a:cubicBezTo>
                  <a:cubicBezTo>
                    <a:pt x="8929" y="1958"/>
                    <a:pt x="13656" y="0"/>
                    <a:pt x="185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14000" cy="3657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15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96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F2328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Robustez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FC8BD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43000" y="2790825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6000" y="2809875"/>
            <a:ext cx="571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Endogeneidade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86000" y="3552825"/>
            <a:ext cx="6096000" cy="104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O choque é tratado como endógeno: os coeficientes são associações condicionais. O viés só se cancela na diferença se for igual nos dois regimes.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39250" y="2790825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82250" y="2809875"/>
            <a:ext cx="571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Variável instrumental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82250" y="3552825"/>
            <a:ext cx="6096000" cy="140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Choque: a surpresa da OPEP (Känzig, 2021) é fraca (F até 6,6). Diesel: a margem de refino é forte após 2017, do 1º mês em diante (F de 19 a 31), e confirma o efeito no IPCA.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3000" y="5648325"/>
            <a:ext cx="952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86000" y="5667375"/>
            <a:ext cx="5715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F23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Outras especificações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86000" y="6410325"/>
            <a:ext cx="14287500" cy="69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1F232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do anúncio: 0,155. Fim da paridade: 0,214. Pandemia por índice de rigor: 0,088. Inflação global controlada: 0,170. O contraste se mantém.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6F6B6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495300"/>
            <a:ext cx="14287500" cy="1109853"/>
            <a:chOff x="0" y="0"/>
            <a:chExt cx="19050000" cy="14798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143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B5562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3725"/>
              <a:ext cx="19050000" cy="886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6"/>
                </a:lnSpc>
              </a:pPr>
              <a:r>
                <a:rPr lang="en-US" sz="4800" b="true">
                  <a:solidFill>
                    <a:srgbClr val="F7F4EE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O repasse não é um parâmetro constante nas economias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381000"/>
            <a:ext cx="16002000" cy="19050"/>
            <a:chOff x="0" y="0"/>
            <a:chExt cx="21336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4585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3000" y="2181225"/>
            <a:ext cx="104775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F7F4EE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É consequência 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3555534"/>
            <a:ext cx="152400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B5562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regra de formação de preços no Brasil.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5219700"/>
            <a:ext cx="15240000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D7D3CC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Quanto: no mês do choque, o repasse ao IPCA passou de 0,005 para 0,088 a 0,176 ponto percentual.</a:t>
            </a:r>
          </a:p>
          <a:p>
            <a:pPr algn="l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D7D3CC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Quando: quase todo o efeito aparece nos dois primeiros meses.</a:t>
            </a:r>
          </a:p>
          <a:p>
            <a:pPr algn="l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D7D3CC"/>
                </a:solidFill>
                <a:latin typeface="Source Sans 3"/>
                <a:ea typeface="Source Sans 3"/>
                <a:cs typeface="Source Sans 3"/>
                <a:sym typeface="Source Sans 3"/>
              </a:rPr>
              <a:t>Por onde: pelos combustíveis, 0,003 ponto antes e 0,249 depois, em três meses.</a:t>
            </a:r>
          </a:p>
          <a:p>
            <a:pPr algn="l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D7D3CC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Implicação: a calibragem do repasse precisa ser revista sempre que a regra muda.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9734550"/>
            <a:ext cx="1143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>
                <a:solidFill>
                  <a:srgbClr val="A9AAAB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 FRANCK MINELLA  •  CIÊNCIAS ECONÔMICAS  • 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92500" y="9734550"/>
            <a:ext cx="95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B5562B"/>
                </a:solidFill>
                <a:latin typeface="Source Sans 3"/>
                <a:ea typeface="Source Sans 3"/>
                <a:cs typeface="Source Sans 3"/>
                <a:sym typeface="Source Sans 3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6715125"/>
            <a:ext cx="16002000" cy="19050"/>
            <a:chOff x="0" y="0"/>
            <a:chExt cx="213360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00" cy="25400"/>
            </a:xfrm>
            <a:custGeom>
              <a:avLst/>
              <a:gdLst/>
              <a:ahLst/>
              <a:cxnLst/>
              <a:rect r="r" b="b" t="t" l="l"/>
              <a:pathLst>
                <a:path h="25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4585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3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2190750"/>
            <a:ext cx="952500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0"/>
              </a:lnSpc>
            </a:pPr>
            <a:r>
              <a:rPr lang="en-US" sz="9900" b="true">
                <a:solidFill>
                  <a:srgbClr val="F7F4EE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Obrigado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4114800"/>
            <a:ext cx="66675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true">
                <a:solidFill>
                  <a:srgbClr val="B5562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Perguntas?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7391400"/>
            <a:ext cx="5715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7F4EE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Pedro Franck Minella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7905750"/>
            <a:ext cx="5715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9AAAB"/>
                </a:solidFill>
                <a:latin typeface="Source Sans 3"/>
                <a:ea typeface="Source Sans 3"/>
                <a:cs typeface="Source Sans 3"/>
                <a:sym typeface="Source Sans 3"/>
              </a:rPr>
              <a:t>pedro.minella1@gmail.com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DAHXYUzQKeg</dc:identifier>
  <dcterms:modified xsi:type="dcterms:W3CDTF">2011-08-01T06:04:30Z</dcterms:modified>
  <cp:revision>1</cp:revision>
  <dc:title>Petróleo e inflação brasileira</dc:title>
</cp:coreProperties>
</file>