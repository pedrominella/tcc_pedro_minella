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69" r:id="rId4"/>
    <p:sldId id="258" r:id="rId5"/>
    <p:sldId id="273" r:id="rId6"/>
    <p:sldId id="259" r:id="rId7"/>
    <p:sldId id="272" r:id="rId8"/>
    <p:sldId id="276" r:id="rId9"/>
    <p:sldId id="278" r:id="rId10"/>
    <p:sldId id="277" r:id="rId11"/>
    <p:sldId id="279" r:id="rId12"/>
    <p:sldId id="260" r:id="rId13"/>
    <p:sldId id="261" r:id="rId14"/>
    <p:sldId id="262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87A74-2B96-43AF-AE68-D06405C12156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10DF6-F0A2-41F6-B1C6-E2E3D4A30C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43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10DF6-F0A2-41F6-B1C6-E2E3D4A30C0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77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10DF6-F0A2-41F6-B1C6-E2E3D4A30C0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07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2137"/>
                </a:solidFill>
                <a:latin typeface="Calibri"/>
              </a:rPr>
              <a:t>Efeitos dos Choques do Petróleo
sobre a Inflação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 err="1">
                <a:solidFill>
                  <a:srgbClr val="1A6B8A"/>
                </a:solidFill>
                <a:latin typeface="Calibri"/>
              </a:rPr>
              <a:t>Evidências</a:t>
            </a:r>
            <a:r>
              <a:rPr b="0" i="1" dirty="0">
                <a:solidFill>
                  <a:srgbClr val="1A6B8A"/>
                </a:solidFill>
                <a:latin typeface="Calibri"/>
              </a:rPr>
              <a:t> via </a:t>
            </a:r>
            <a:r>
              <a:rPr b="0" i="1" dirty="0" err="1">
                <a:solidFill>
                  <a:srgbClr val="1A6B8A"/>
                </a:solidFill>
                <a:latin typeface="Calibri"/>
              </a:rPr>
              <a:t>Combustíveis</a:t>
            </a:r>
            <a:r>
              <a:rPr b="0" i="1" dirty="0">
                <a:solidFill>
                  <a:srgbClr val="1A6B8A"/>
                </a:solidFill>
                <a:latin typeface="Calibri"/>
              </a:rPr>
              <a:t>, Petrobras e Local Projections (2003-2026)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10789920" cy="2286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Pedro Franck Minella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4A5568"/>
                </a:solidFill>
                <a:latin typeface="Calibri"/>
              </a:rPr>
              <a:t>Orientador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: Prof. Silvio Costa   |   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Ibmec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-DF,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7548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2606040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B8A"/>
                </a:solidFill>
                <a:latin typeface="Calibri"/>
              </a:rPr>
              <a:t>23 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rgbClr val="4A5568"/>
                </a:solidFill>
                <a:latin typeface="Calibri"/>
              </a:rPr>
              <a:t>Amostra</a:t>
            </a:r>
            <a:r>
              <a:rPr sz="1600" b="0" i="0" dirty="0">
                <a:solidFill>
                  <a:srgbClr val="4A5568"/>
                </a:solidFill>
                <a:latin typeface="Calibri"/>
              </a:rPr>
              <a:t>
2003-2026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7548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4754880"/>
            <a:ext cx="2606040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48920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B8A"/>
                </a:solidFill>
                <a:latin typeface="Calibri"/>
              </a:rPr>
              <a:t>4 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681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  <a:latin typeface="Calibri"/>
              </a:rPr>
              <a:t>Especificações
econométricas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7548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4754880"/>
            <a:ext cx="2606040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B8A"/>
                </a:solidFill>
                <a:latin typeface="Calibri"/>
              </a:rPr>
              <a:t>6 variáveis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681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  <a:latin typeface="Calibri"/>
              </a:rPr>
              <a:t>Preços de
combustíveis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47548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4754880"/>
            <a:ext cx="2606040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48920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B8A"/>
                </a:solidFill>
                <a:latin typeface="Calibri"/>
              </a:rPr>
              <a:t>h =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4681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  <a:latin typeface="Calibri"/>
              </a:rPr>
              <a:t>Horizonte de
projeção (meses)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6676136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83C53-2720-2A21-ECA6-0A7296A2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>
            <a:extLst>
              <a:ext uri="{FF2B5EF4-FFF2-40B4-BE49-F238E27FC236}">
                <a16:creationId xmlns:a16="http://schemas.microsoft.com/office/drawing/2014/main" id="{53FDA3BC-592D-C8B0-92E8-2EDDF9428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0312"/>
            <a:ext cx="12222326" cy="66732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BC1447-CE1C-B1F8-AE5B-0175F111AB2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0241-94FB-D945-118A-2CF062B3F0E9}"/>
              </a:ext>
            </a:extLst>
          </p:cNvPr>
          <p:cNvSpPr txBox="1"/>
          <p:nvPr/>
        </p:nvSpPr>
        <p:spPr>
          <a:xfrm>
            <a:off x="5532120" y="6510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Elaboracao propria. Controles: cambio, IBC-Br, Selic, Focus, Kilian. IC 90% e 95%.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B12D10-DFBD-09E3-0E88-273C5B8B38B2}"/>
              </a:ext>
            </a:extLst>
          </p:cNvPr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F7A83-45C1-1C4E-A4D1-FFFA0CF09673}"/>
              </a:ext>
            </a:extLst>
          </p:cNvPr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6D7CC7-E27B-2D24-96FB-82C161236982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4233FB-31F7-8FB0-2789-48B01D26806D}"/>
              </a:ext>
            </a:extLst>
          </p:cNvPr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B27952-1F83-530F-35CA-85C3961528C0}"/>
              </a:ext>
            </a:extLst>
          </p:cNvPr>
          <p:cNvSpPr/>
          <p:nvPr/>
        </p:nvSpPr>
        <p:spPr>
          <a:xfrm>
            <a:off x="0" y="6675120"/>
            <a:ext cx="12222327" cy="232095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2/16</a:t>
            </a:r>
          </a:p>
        </p:txBody>
      </p:sp>
    </p:spTree>
    <p:extLst>
      <p:ext uri="{BB962C8B-B14F-4D97-AF65-F5344CB8AC3E}">
        <p14:creationId xmlns:p14="http://schemas.microsoft.com/office/powerpoint/2010/main" val="11850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Mas o que a literatura nos diz?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3/16</a:t>
            </a:r>
          </a:p>
        </p:txBody>
      </p:sp>
    </p:spTree>
    <p:extLst>
      <p:ext uri="{BB962C8B-B14F-4D97-AF65-F5344CB8AC3E}">
        <p14:creationId xmlns:p14="http://schemas.microsoft.com/office/powerpoint/2010/main" val="141449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O Mecanismo de Transmissão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Cadeia causal do choque ao consumidor — cada elo é medido por Local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727" y="1463040"/>
            <a:ext cx="1920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3727" y="1463040"/>
            <a:ext cx="1920240" cy="6400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3727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20574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Brent
(USD)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9687" y="19202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9727" y="1463040"/>
            <a:ext cx="1920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49727" y="1463040"/>
            <a:ext cx="1920240" cy="6400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9727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9727" y="20574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Câmbio
(R$/USD)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19202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5727" y="1463040"/>
            <a:ext cx="1920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35727" y="1463040"/>
            <a:ext cx="1920240" cy="6400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35727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5727" y="20574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Petrobras
(Refinaria)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19202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1727" y="1463040"/>
            <a:ext cx="1920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21727" y="1463040"/>
            <a:ext cx="1920240" cy="6400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1727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727" y="20574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Bomba
(Gasolina/Diesel)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7687" y="19202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07727" y="1463040"/>
            <a:ext cx="1920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07727" y="1463040"/>
            <a:ext cx="1920240" cy="64008"/>
          </a:xfrm>
          <a:prstGeom prst="rect">
            <a:avLst/>
          </a:prstGeom>
          <a:solidFill>
            <a:srgbClr val="1E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7727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727" y="20574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IPCA
Transportes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727" y="2990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Choque global
em dólares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9727" y="2990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Converte e
amplifica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5727" y="2990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Define timing
e magnitude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1727" y="2990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Impostos
e misturas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7727" y="2990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Peso direto
na cesta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11430000" cy="1097280"/>
          </a:xfrm>
          <a:prstGeom prst="rect">
            <a:avLst/>
          </a:prstGeom>
          <a:solidFill>
            <a:srgbClr val="D0EAF2"/>
          </a:solidFill>
          <a:ln w="1905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840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8A"/>
                </a:solidFill>
                <a:latin typeface="Calibri"/>
              </a:rPr>
              <a:t>Hipótese Central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605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 repasse é setorialmente concentrado no IPCA Transportes. A política de preços da Petrobras atua como válvula reguladora — bloqueando (pré-2016) ou acelerando (pós-2016 PPI) a velocidade e magnitude desta transmissão.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074920"/>
            <a:ext cx="37490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5074920"/>
            <a:ext cx="45720" cy="141732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5148072"/>
            <a:ext cx="35844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8A"/>
                </a:solidFill>
                <a:latin typeface="Calibri"/>
              </a:rPr>
              <a:t>Filtro Cambial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440680"/>
            <a:ext cx="3584447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Converte o choque em R$, amplia volatilidade doméstica.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5074920"/>
            <a:ext cx="37490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97680" y="5074920"/>
            <a:ext cx="45720" cy="141732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07408" y="5148072"/>
            <a:ext cx="35844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Filtro Petrobras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5440680"/>
            <a:ext cx="3584447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O pilar central desta pesquisa. Decide se o choque passa.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074920"/>
            <a:ext cx="37490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0" y="5074920"/>
            <a:ext cx="45720" cy="14173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9327" y="5148072"/>
            <a:ext cx="35844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Calibri"/>
              </a:rPr>
              <a:t>Filtro de Mercado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5440680"/>
            <a:ext cx="3584447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Distribuição, tributos e lei de substituição etanol/gasolina.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3/12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77A2213-66C5-E729-D405-E4D4E3F71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0"/>
            <a:ext cx="12192000" cy="68530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4/16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E4F0375-E054-A2BA-126F-E24C8994F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3866A-A2F1-D797-7666-16ED2355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800" b="1" dirty="0">
                <a:solidFill>
                  <a:srgbClr val="FFFFFF"/>
                </a:solidFill>
                <a:latin typeface="Calibri"/>
              </a:rPr>
              <a:t>Então q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ual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Modelo usar e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quê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2242357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A Lente Metodológica: Local Projections (Jordà, 2005)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 err="1">
                <a:solidFill>
                  <a:srgbClr val="4A5568"/>
                </a:solidFill>
                <a:latin typeface="Calibri"/>
              </a:rPr>
              <a:t>Estimação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direta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de y(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= α(h) + β(h)·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ΔBrent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(t) +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controles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+ ε(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para h = 0,...,12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84632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9" name="TextBox 8"/>
          <p:cNvSpPr txBox="1"/>
          <p:nvPr/>
        </p:nvSpPr>
        <p:spPr>
          <a:xfrm>
            <a:off x="566928" y="139903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Por que LP e não VAR?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O VAR itera erros ao longo do tempo. O LP estima cada horizonte h de forma independente por OLS, tornando-o robusto a erros de especificação.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Correção HAC (Newey-West)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26079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LP acumula autocorrelação MA(h) por construção. Correção com maxlags=h garante erros-padrão corretos e bandas de confiança precisas.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7" name="TextBox 16"/>
          <p:cNvSpPr txBox="1"/>
          <p:nvPr/>
        </p:nvSpPr>
        <p:spPr>
          <a:xfrm>
            <a:off x="566928" y="386791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Controles Incluídos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Câmbio R$/USD, IBC-Br (atividade), Selic, Expectativas Focus e Índice Kilian (demanda global de commodities).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1" name="TextBox 20"/>
          <p:cNvSpPr txBox="1"/>
          <p:nvPr/>
        </p:nvSpPr>
        <p:spPr>
          <a:xfrm>
            <a:off x="566928" y="510235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Horizonte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9496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h = 0 a 12 meses. Cada regressão é independente — sem propagação de erros entre horizontes.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188720"/>
            <a:ext cx="6309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0" y="1188720"/>
            <a:ext cx="630936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P_OLS_Kilian_dupla_faixa_ipca_trans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72768"/>
            <a:ext cx="6217920" cy="4892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6510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Elaboracao propria. Controles: cambio, IBC-Br, Selic, Focus, Kilian. IC 90% e 95%.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4/12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59E30A2-6710-A304-40F6-95CCCF0C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3" y="174752"/>
            <a:ext cx="12262719" cy="67397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CDF3439-7860-47DE-A767-B7695E2874D7}"/>
              </a:ext>
            </a:extLst>
          </p:cNvPr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B7D5A4-0A10-1939-005A-41A90068845A}"/>
              </a:ext>
            </a:extLst>
          </p:cNvPr>
          <p:cNvSpPr/>
          <p:nvPr/>
        </p:nvSpPr>
        <p:spPr>
          <a:xfrm>
            <a:off x="-35512" y="6720839"/>
            <a:ext cx="12257840" cy="186375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FD87D-D16A-1CB6-0FD7-46287CC7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FCE44-223F-D1A0-9E5B-4431B685F741}"/>
              </a:ext>
            </a:extLst>
          </p:cNvPr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D8758-B4E9-14B5-69B5-765885A762DB}"/>
              </a:ext>
            </a:extLst>
          </p:cNvPr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D2137"/>
                </a:solidFill>
                <a:latin typeface="Calibri"/>
              </a:rPr>
              <a:t>A Lente </a:t>
            </a:r>
            <a:r>
              <a:rPr sz="2800" b="1" i="0" dirty="0" err="1">
                <a:solidFill>
                  <a:srgbClr val="0D2137"/>
                </a:solidFill>
                <a:latin typeface="Calibri"/>
              </a:rPr>
              <a:t>Metodológica</a:t>
            </a:r>
            <a:r>
              <a:rPr sz="2800" b="1" i="0" dirty="0">
                <a:solidFill>
                  <a:srgbClr val="0D2137"/>
                </a:solidFill>
                <a:latin typeface="Calibri"/>
              </a:rPr>
              <a:t>: Local Projections (Jordà, 2005)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2574E-2862-6CF2-D442-C52131775E34}"/>
              </a:ext>
            </a:extLst>
          </p:cNvPr>
          <p:cNvSpPr txBox="1"/>
          <p:nvPr/>
        </p:nvSpPr>
        <p:spPr>
          <a:xfrm>
            <a:off x="411480" y="74980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 err="1">
                <a:solidFill>
                  <a:srgbClr val="4A5568"/>
                </a:solidFill>
                <a:latin typeface="Calibri"/>
              </a:rPr>
              <a:t>Estimação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direta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de y(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= α(h) + β(h)·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ΔBrent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(t) +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controles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+ ε(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para h = 0,...,12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98DA3-FB2C-A8CF-5021-F07FA7E90631}"/>
              </a:ext>
            </a:extLst>
          </p:cNvPr>
          <p:cNvSpPr/>
          <p:nvPr/>
        </p:nvSpPr>
        <p:spPr>
          <a:xfrm>
            <a:off x="365760" y="1188720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8DB412-74B7-1178-F97F-1CB3B9DA8973}"/>
              </a:ext>
            </a:extLst>
          </p:cNvPr>
          <p:cNvSpPr/>
          <p:nvPr/>
        </p:nvSpPr>
        <p:spPr>
          <a:xfrm>
            <a:off x="365760" y="1188720"/>
            <a:ext cx="484632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F0A0A-FCD0-1ED7-FF34-C60B9CD7EAC1}"/>
              </a:ext>
            </a:extLst>
          </p:cNvPr>
          <p:cNvSpPr/>
          <p:nvPr/>
        </p:nvSpPr>
        <p:spPr>
          <a:xfrm>
            <a:off x="457200" y="132588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D883B1-A166-97B5-B4CD-CB8CD12AC67D}"/>
              </a:ext>
            </a:extLst>
          </p:cNvPr>
          <p:cNvSpPr/>
          <p:nvPr/>
        </p:nvSpPr>
        <p:spPr>
          <a:xfrm>
            <a:off x="457200" y="132588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A7BCA-1937-39E5-814B-A81A83DC54D9}"/>
              </a:ext>
            </a:extLst>
          </p:cNvPr>
          <p:cNvSpPr txBox="1"/>
          <p:nvPr/>
        </p:nvSpPr>
        <p:spPr>
          <a:xfrm>
            <a:off x="566928" y="139903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Por que LP e não VAR?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95A9D-9225-11D6-B967-BDF6B9A8F6E5}"/>
              </a:ext>
            </a:extLst>
          </p:cNvPr>
          <p:cNvSpPr txBox="1"/>
          <p:nvPr/>
        </p:nvSpPr>
        <p:spPr>
          <a:xfrm>
            <a:off x="566928" y="1691640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O VAR itera erros ao longo do tempo. O LP estima cada horizonte h de forma independente por OLS, tornando-o robusto a erros de especificação.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4BB3F-484A-A3CB-0FA9-7AB7C3544AF8}"/>
              </a:ext>
            </a:extLst>
          </p:cNvPr>
          <p:cNvSpPr/>
          <p:nvPr/>
        </p:nvSpPr>
        <p:spPr>
          <a:xfrm>
            <a:off x="457200" y="256032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10F0D-A953-5753-84B2-6C08590A4F82}"/>
              </a:ext>
            </a:extLst>
          </p:cNvPr>
          <p:cNvSpPr/>
          <p:nvPr/>
        </p:nvSpPr>
        <p:spPr>
          <a:xfrm>
            <a:off x="457200" y="256032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01501-2665-C8BB-7174-233332102DFB}"/>
              </a:ext>
            </a:extLst>
          </p:cNvPr>
          <p:cNvSpPr txBox="1"/>
          <p:nvPr/>
        </p:nvSpPr>
        <p:spPr>
          <a:xfrm>
            <a:off x="566928" y="263347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Correção HAC (Newey-West)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06940A-0EAD-9D11-9368-40AF6E61C4AD}"/>
              </a:ext>
            </a:extLst>
          </p:cNvPr>
          <p:cNvSpPr txBox="1"/>
          <p:nvPr/>
        </p:nvSpPr>
        <p:spPr>
          <a:xfrm>
            <a:off x="566928" y="2926079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LP acumula autocorrelação MA(h) por construção. Correção com maxlags=h garante erros-padrão corretos e bandas de confiança precisas.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D2FDC0-9289-89F3-17EC-BEC566B9DA42}"/>
              </a:ext>
            </a:extLst>
          </p:cNvPr>
          <p:cNvSpPr/>
          <p:nvPr/>
        </p:nvSpPr>
        <p:spPr>
          <a:xfrm>
            <a:off x="457200" y="379476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02DBC-AFB1-3329-78F6-E47F6F1850B2}"/>
              </a:ext>
            </a:extLst>
          </p:cNvPr>
          <p:cNvSpPr/>
          <p:nvPr/>
        </p:nvSpPr>
        <p:spPr>
          <a:xfrm>
            <a:off x="457200" y="379476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BF0FA-4A24-CEDF-2F9E-B9637D4A812C}"/>
              </a:ext>
            </a:extLst>
          </p:cNvPr>
          <p:cNvSpPr txBox="1"/>
          <p:nvPr/>
        </p:nvSpPr>
        <p:spPr>
          <a:xfrm>
            <a:off x="566928" y="386791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Controles Incluídos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75B158-79D4-62D6-3B51-783300D20D35}"/>
              </a:ext>
            </a:extLst>
          </p:cNvPr>
          <p:cNvSpPr txBox="1"/>
          <p:nvPr/>
        </p:nvSpPr>
        <p:spPr>
          <a:xfrm>
            <a:off x="566928" y="416052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Câmbio R$/USD, IBC-Br (atividade), Selic, Expectativas Focus e Índice Kilian (demanda global de commodities).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B799E-B87F-CC58-9C77-9AD8FF0D8F0D}"/>
              </a:ext>
            </a:extLst>
          </p:cNvPr>
          <p:cNvSpPr/>
          <p:nvPr/>
        </p:nvSpPr>
        <p:spPr>
          <a:xfrm>
            <a:off x="457200" y="502920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5E5A52-6430-45E1-5705-ACBD497B3FB8}"/>
              </a:ext>
            </a:extLst>
          </p:cNvPr>
          <p:cNvSpPr/>
          <p:nvPr/>
        </p:nvSpPr>
        <p:spPr>
          <a:xfrm>
            <a:off x="457200" y="502920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EE57B6-DD78-A7A6-0E9F-B6E0C882FF84}"/>
              </a:ext>
            </a:extLst>
          </p:cNvPr>
          <p:cNvSpPr txBox="1"/>
          <p:nvPr/>
        </p:nvSpPr>
        <p:spPr>
          <a:xfrm>
            <a:off x="566928" y="510235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Horizonte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1524DD-27C3-0526-383E-24EC66E97CCB}"/>
              </a:ext>
            </a:extLst>
          </p:cNvPr>
          <p:cNvSpPr txBox="1"/>
          <p:nvPr/>
        </p:nvSpPr>
        <p:spPr>
          <a:xfrm>
            <a:off x="566928" y="539496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h = 0 a 12 meses. Cada regressão é independente — sem propagação de erros entre horizontes.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E15808-DF12-E7AA-D6F3-78D9CFC4FD0F}"/>
              </a:ext>
            </a:extLst>
          </p:cNvPr>
          <p:cNvSpPr/>
          <p:nvPr/>
        </p:nvSpPr>
        <p:spPr>
          <a:xfrm>
            <a:off x="5486400" y="1188720"/>
            <a:ext cx="6309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860AC-6577-C1DE-BE75-EAB0A27FBB9B}"/>
              </a:ext>
            </a:extLst>
          </p:cNvPr>
          <p:cNvSpPr/>
          <p:nvPr/>
        </p:nvSpPr>
        <p:spPr>
          <a:xfrm>
            <a:off x="5486400" y="1188720"/>
            <a:ext cx="630936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P_OLS_Kilian_dupla_faixa_ipca_transporte.png">
            <a:extLst>
              <a:ext uri="{FF2B5EF4-FFF2-40B4-BE49-F238E27FC236}">
                <a16:creationId xmlns:a16="http://schemas.microsoft.com/office/drawing/2014/main" id="{9D5B30F9-E5A4-0772-5512-B224614F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72768"/>
            <a:ext cx="6217920" cy="48920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B92C4D0-07E5-6194-FC4A-9D1C79445719}"/>
              </a:ext>
            </a:extLst>
          </p:cNvPr>
          <p:cNvSpPr txBox="1"/>
          <p:nvPr/>
        </p:nvSpPr>
        <p:spPr>
          <a:xfrm>
            <a:off x="5532120" y="6510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Elaboracao propria. Controles: cambio, IBC-Br, Selic, Focus, Kilian. IC 90% e 95%.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1B483F-EB2C-2D8F-8269-2460B3155A8D}"/>
              </a:ext>
            </a:extLst>
          </p:cNvPr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9F9688-9188-FDBD-C065-47FCAEFBE2BD}"/>
              </a:ext>
            </a:extLst>
          </p:cNvPr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5C15F5-D9B7-C1E6-EABE-5990B85B6145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4/12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E4432363-3F13-AC3E-F94D-748F4517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1168"/>
            <a:ext cx="12191694" cy="665683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9494EAE-D16E-0E07-499A-EDB37634AFA2}"/>
              </a:ext>
            </a:extLst>
          </p:cNvPr>
          <p:cNvSpPr/>
          <p:nvPr/>
        </p:nvSpPr>
        <p:spPr>
          <a:xfrm>
            <a:off x="-1" y="6647688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8/16</a:t>
            </a:r>
          </a:p>
        </p:txBody>
      </p:sp>
    </p:spTree>
    <p:extLst>
      <p:ext uri="{BB962C8B-B14F-4D97-AF65-F5344CB8AC3E}">
        <p14:creationId xmlns:p14="http://schemas.microsoft.com/office/powerpoint/2010/main" val="132720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6D40E-EB9D-ED52-1F87-584D8E93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417A0-7414-9BF0-D5EE-CE1DE2B5E9CD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6D3522-435A-65B0-4C54-C7E76DBE299D}"/>
              </a:ext>
            </a:extLst>
          </p:cNvPr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5198F-C33E-E252-604C-1AC2DCDF2DF8}"/>
              </a:ext>
            </a:extLst>
          </p:cNvPr>
          <p:cNvSpPr txBox="1"/>
          <p:nvPr/>
        </p:nvSpPr>
        <p:spPr>
          <a:xfrm>
            <a:off x="914400" y="256032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800" b="1" dirty="0">
                <a:solidFill>
                  <a:srgbClr val="FFFFFF"/>
                </a:solidFill>
                <a:latin typeface="Calibri"/>
              </a:rPr>
              <a:t>Quais </a:t>
            </a:r>
            <a:r>
              <a:rPr lang="pt-BR" sz="4800" b="1" dirty="0" err="1">
                <a:solidFill>
                  <a:srgbClr val="FFFFFF"/>
                </a:solidFill>
                <a:latin typeface="Calibri"/>
              </a:rPr>
              <a:t>Variaveis</a:t>
            </a:r>
            <a:r>
              <a:rPr lang="pt-BR" sz="4800" b="1" dirty="0">
                <a:solidFill>
                  <a:srgbClr val="FFFFFF"/>
                </a:solidFill>
                <a:latin typeface="Calibri"/>
              </a:rPr>
              <a:t> Foram usadas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B9F4B-6988-F8DC-EB73-685C0A990568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130035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84DF9-B619-D2AE-A9B6-55092142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DA8A4A-9AEB-CC9B-7FC1-ED7E6AF962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8DF79-8BF1-CC49-B0BD-743422E86BC4}"/>
              </a:ext>
            </a:extLst>
          </p:cNvPr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A Lente Metodológica: Local Projections (Jordà, 2005)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16EA6-7F3A-43EA-C9B3-4E59F5E27251}"/>
              </a:ext>
            </a:extLst>
          </p:cNvPr>
          <p:cNvSpPr txBox="1"/>
          <p:nvPr/>
        </p:nvSpPr>
        <p:spPr>
          <a:xfrm>
            <a:off x="411480" y="74980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 err="1">
                <a:solidFill>
                  <a:srgbClr val="4A5568"/>
                </a:solidFill>
                <a:latin typeface="Calibri"/>
              </a:rPr>
              <a:t>Estimação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direta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de y(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= α(h) + β(h)·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ΔBrent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(t) +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controles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+ ε(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para h = 0,...,12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F00A6-136F-6A9A-3D8B-39120DF9E663}"/>
              </a:ext>
            </a:extLst>
          </p:cNvPr>
          <p:cNvSpPr/>
          <p:nvPr/>
        </p:nvSpPr>
        <p:spPr>
          <a:xfrm>
            <a:off x="365760" y="1188720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26B4E-FECE-7F3B-3CB5-BB34A93A4D63}"/>
              </a:ext>
            </a:extLst>
          </p:cNvPr>
          <p:cNvSpPr/>
          <p:nvPr/>
        </p:nvSpPr>
        <p:spPr>
          <a:xfrm>
            <a:off x="365760" y="1188720"/>
            <a:ext cx="484632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7E053-C7AF-092B-FCB8-8B19E77241D8}"/>
              </a:ext>
            </a:extLst>
          </p:cNvPr>
          <p:cNvSpPr/>
          <p:nvPr/>
        </p:nvSpPr>
        <p:spPr>
          <a:xfrm>
            <a:off x="457200" y="132588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68288-4534-A1C3-A949-A0E398151F2D}"/>
              </a:ext>
            </a:extLst>
          </p:cNvPr>
          <p:cNvSpPr/>
          <p:nvPr/>
        </p:nvSpPr>
        <p:spPr>
          <a:xfrm>
            <a:off x="457200" y="132588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8BAFF-CC7B-DF0D-70B9-481D76B3AF2F}"/>
              </a:ext>
            </a:extLst>
          </p:cNvPr>
          <p:cNvSpPr txBox="1"/>
          <p:nvPr/>
        </p:nvSpPr>
        <p:spPr>
          <a:xfrm>
            <a:off x="566928" y="139903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Por que LP e não VAR?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A32AD-0384-4A70-9452-830986162EB7}"/>
              </a:ext>
            </a:extLst>
          </p:cNvPr>
          <p:cNvSpPr txBox="1"/>
          <p:nvPr/>
        </p:nvSpPr>
        <p:spPr>
          <a:xfrm>
            <a:off x="566928" y="1691640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O VAR itera erros ao longo do tempo. O LP estima cada horizonte h de forma independente por OLS, tornando-o robusto a erros de especificação.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15EA20-625B-5B99-0D8D-32A5C587BC53}"/>
              </a:ext>
            </a:extLst>
          </p:cNvPr>
          <p:cNvSpPr/>
          <p:nvPr/>
        </p:nvSpPr>
        <p:spPr>
          <a:xfrm>
            <a:off x="457200" y="256032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307F94-5FCD-B3B2-1A13-E1A47827606B}"/>
              </a:ext>
            </a:extLst>
          </p:cNvPr>
          <p:cNvSpPr/>
          <p:nvPr/>
        </p:nvSpPr>
        <p:spPr>
          <a:xfrm>
            <a:off x="457200" y="256032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87409-A484-9ED1-BF9D-C2956071A321}"/>
              </a:ext>
            </a:extLst>
          </p:cNvPr>
          <p:cNvSpPr txBox="1"/>
          <p:nvPr/>
        </p:nvSpPr>
        <p:spPr>
          <a:xfrm>
            <a:off x="566928" y="263347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Correção HAC (Newey-West)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F73C0-8BF8-03A2-7E4B-4C7742DDBA8C}"/>
              </a:ext>
            </a:extLst>
          </p:cNvPr>
          <p:cNvSpPr txBox="1"/>
          <p:nvPr/>
        </p:nvSpPr>
        <p:spPr>
          <a:xfrm>
            <a:off x="566928" y="2926079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LP acumula autocorrelação MA(h) por construção. Correção com maxlags=h garante erros-padrão corretos e bandas de confiança precisas.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4F3877-F57F-9B9E-E1F7-AFF67D81321F}"/>
              </a:ext>
            </a:extLst>
          </p:cNvPr>
          <p:cNvSpPr/>
          <p:nvPr/>
        </p:nvSpPr>
        <p:spPr>
          <a:xfrm>
            <a:off x="457200" y="379476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2EED55-8361-E657-2057-A5A971A2E1E7}"/>
              </a:ext>
            </a:extLst>
          </p:cNvPr>
          <p:cNvSpPr/>
          <p:nvPr/>
        </p:nvSpPr>
        <p:spPr>
          <a:xfrm>
            <a:off x="457200" y="379476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C70971-0FC6-108F-BB4A-A5AFF27D4805}"/>
              </a:ext>
            </a:extLst>
          </p:cNvPr>
          <p:cNvSpPr txBox="1"/>
          <p:nvPr/>
        </p:nvSpPr>
        <p:spPr>
          <a:xfrm>
            <a:off x="566928" y="386791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Controles Incluídos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AF700B-806B-8D46-3DB7-15CF912FC41B}"/>
              </a:ext>
            </a:extLst>
          </p:cNvPr>
          <p:cNvSpPr txBox="1"/>
          <p:nvPr/>
        </p:nvSpPr>
        <p:spPr>
          <a:xfrm>
            <a:off x="566928" y="416052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Câmbio R$/USD, IBC-Br (atividade), Selic, Expectativas Focus e Índice Kilian (demanda global de commodities).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6D7DF-A5EA-121E-FEE9-BC91353AD603}"/>
              </a:ext>
            </a:extLst>
          </p:cNvPr>
          <p:cNvSpPr/>
          <p:nvPr/>
        </p:nvSpPr>
        <p:spPr>
          <a:xfrm>
            <a:off x="457200" y="502920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55D071-671A-A812-8957-E14194D31A1E}"/>
              </a:ext>
            </a:extLst>
          </p:cNvPr>
          <p:cNvSpPr/>
          <p:nvPr/>
        </p:nvSpPr>
        <p:spPr>
          <a:xfrm>
            <a:off x="457200" y="502920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35A3E3-CA8B-AEE3-B2AB-502ECA8219CD}"/>
              </a:ext>
            </a:extLst>
          </p:cNvPr>
          <p:cNvSpPr txBox="1"/>
          <p:nvPr/>
        </p:nvSpPr>
        <p:spPr>
          <a:xfrm>
            <a:off x="566928" y="510235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Horizonte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0FD91-586E-FFCE-F04E-EB5722250798}"/>
              </a:ext>
            </a:extLst>
          </p:cNvPr>
          <p:cNvSpPr txBox="1"/>
          <p:nvPr/>
        </p:nvSpPr>
        <p:spPr>
          <a:xfrm>
            <a:off x="566928" y="539496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h = 0 a 12 meses. Cada regressão é independente — sem propagação de erros entre horizontes.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2316E8-E32E-38B1-3B67-423EF67D7289}"/>
              </a:ext>
            </a:extLst>
          </p:cNvPr>
          <p:cNvSpPr/>
          <p:nvPr/>
        </p:nvSpPr>
        <p:spPr>
          <a:xfrm>
            <a:off x="5486400" y="1188720"/>
            <a:ext cx="6309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323B01-6047-C58C-FC6D-005D4F681E71}"/>
              </a:ext>
            </a:extLst>
          </p:cNvPr>
          <p:cNvSpPr/>
          <p:nvPr/>
        </p:nvSpPr>
        <p:spPr>
          <a:xfrm>
            <a:off x="5486400" y="1188720"/>
            <a:ext cx="630936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P_OLS_Kilian_dupla_faixa_ipca_transporte.png">
            <a:extLst>
              <a:ext uri="{FF2B5EF4-FFF2-40B4-BE49-F238E27FC236}">
                <a16:creationId xmlns:a16="http://schemas.microsoft.com/office/drawing/2014/main" id="{E6535DAD-16C1-A349-91C8-59030C78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72768"/>
            <a:ext cx="6217920" cy="48920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0D406ED-4837-D56E-2843-B609A9669BD7}"/>
              </a:ext>
            </a:extLst>
          </p:cNvPr>
          <p:cNvSpPr txBox="1"/>
          <p:nvPr/>
        </p:nvSpPr>
        <p:spPr>
          <a:xfrm>
            <a:off x="5532120" y="6510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Elaboracao propria. Controles: cambio, IBC-Br, Selic, Focus, Kilian. IC 90% e 95%.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8C5746-70E1-2ADD-8286-E5A92E775AF4}"/>
              </a:ext>
            </a:extLst>
          </p:cNvPr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2ED28-683F-12E5-467B-8F1E046918E8}"/>
              </a:ext>
            </a:extLst>
          </p:cNvPr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D09571-105A-0091-E94E-AE408C2BB445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4/12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CE2E4A3-FAA1-4B9D-7355-07A71B755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3" y="174752"/>
            <a:ext cx="12262719" cy="67397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604A8B2-685B-6F0F-FF6D-C3970E507126}"/>
              </a:ext>
            </a:extLst>
          </p:cNvPr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8136D9-CFBC-EE0F-FFD0-72013FE90FDA}"/>
              </a:ext>
            </a:extLst>
          </p:cNvPr>
          <p:cNvSpPr/>
          <p:nvPr/>
        </p:nvSpPr>
        <p:spPr>
          <a:xfrm>
            <a:off x="-35512" y="6720839"/>
            <a:ext cx="12257840" cy="186375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1704FC-8AF9-724C-0212-8DD0ABBB8BD4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6/16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C3B705-08E2-B4B6-DE2F-91046BAA8DF6}"/>
              </a:ext>
            </a:extLst>
          </p:cNvPr>
          <p:cNvSpPr txBox="1"/>
          <p:nvPr/>
        </p:nvSpPr>
        <p:spPr>
          <a:xfrm>
            <a:off x="2989007" y="3123888"/>
            <a:ext cx="6213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442AEDC-3BDD-73D7-B013-B097104A0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634" y="192024"/>
            <a:ext cx="12257840" cy="6547104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02B8EB3D-EB70-E9D1-B753-E47D8DE12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390" y="174752"/>
            <a:ext cx="12257840" cy="65735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570809-7668-C852-780C-C09B7E3AB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634" y="174752"/>
            <a:ext cx="12257840" cy="65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3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1C954-8E5D-2AD4-9028-6BD44B47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937B60-200F-4026-20FC-5A00834FC51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03308-FEBD-C255-0757-4493F1AD915E}"/>
              </a:ext>
            </a:extLst>
          </p:cNvPr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A Lente Metodológica: Local Projections (Jordà, 2005)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8C2F6-221D-78A5-D293-516B48D9DFFC}"/>
              </a:ext>
            </a:extLst>
          </p:cNvPr>
          <p:cNvSpPr txBox="1"/>
          <p:nvPr/>
        </p:nvSpPr>
        <p:spPr>
          <a:xfrm>
            <a:off x="411480" y="74980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 err="1">
                <a:solidFill>
                  <a:srgbClr val="4A5568"/>
                </a:solidFill>
                <a:latin typeface="Calibri"/>
              </a:rPr>
              <a:t>Estimação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direta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de y(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= α(h) + β(h)·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ΔBrent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(t) + 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controles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 + ε(</a:t>
            </a:r>
            <a:r>
              <a:rPr sz="1500" b="0" i="1" dirty="0" err="1">
                <a:solidFill>
                  <a:srgbClr val="4A5568"/>
                </a:solidFill>
                <a:latin typeface="Calibri"/>
              </a:rPr>
              <a:t>t+h</a:t>
            </a:r>
            <a:r>
              <a:rPr sz="1500" b="0" i="1" dirty="0">
                <a:solidFill>
                  <a:srgbClr val="4A5568"/>
                </a:solidFill>
                <a:latin typeface="Calibri"/>
              </a:rPr>
              <a:t>) para h = 0,...,12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93D5E8-66B3-1B7C-E6C6-53856520072F}"/>
              </a:ext>
            </a:extLst>
          </p:cNvPr>
          <p:cNvSpPr/>
          <p:nvPr/>
        </p:nvSpPr>
        <p:spPr>
          <a:xfrm>
            <a:off x="365760" y="1188720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A722D-1ECE-2598-7633-19088D3F5806}"/>
              </a:ext>
            </a:extLst>
          </p:cNvPr>
          <p:cNvSpPr/>
          <p:nvPr/>
        </p:nvSpPr>
        <p:spPr>
          <a:xfrm>
            <a:off x="365760" y="1188720"/>
            <a:ext cx="484632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EF927-0331-9FF2-4650-CA575E5BC0E4}"/>
              </a:ext>
            </a:extLst>
          </p:cNvPr>
          <p:cNvSpPr/>
          <p:nvPr/>
        </p:nvSpPr>
        <p:spPr>
          <a:xfrm>
            <a:off x="457200" y="132588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1179F-729D-0322-0852-4F182FF9D0CF}"/>
              </a:ext>
            </a:extLst>
          </p:cNvPr>
          <p:cNvSpPr/>
          <p:nvPr/>
        </p:nvSpPr>
        <p:spPr>
          <a:xfrm>
            <a:off x="457200" y="132588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52544-664D-A94B-CBD4-D436E9004ADB}"/>
              </a:ext>
            </a:extLst>
          </p:cNvPr>
          <p:cNvSpPr txBox="1"/>
          <p:nvPr/>
        </p:nvSpPr>
        <p:spPr>
          <a:xfrm>
            <a:off x="566928" y="139903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Por que LP e não VAR?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CC32C-F743-5221-8C1D-5B4AD93E8088}"/>
              </a:ext>
            </a:extLst>
          </p:cNvPr>
          <p:cNvSpPr txBox="1"/>
          <p:nvPr/>
        </p:nvSpPr>
        <p:spPr>
          <a:xfrm>
            <a:off x="566928" y="1691640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O VAR itera erros ao longo do tempo. O LP estima cada horizonte h de forma independente por OLS, tornando-o robusto a erros de especificação.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7D347-0D8B-7CF6-4835-524764C74FC2}"/>
              </a:ext>
            </a:extLst>
          </p:cNvPr>
          <p:cNvSpPr/>
          <p:nvPr/>
        </p:nvSpPr>
        <p:spPr>
          <a:xfrm>
            <a:off x="457200" y="256032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80D3E-F98D-E303-8D28-7010E0DAC5C7}"/>
              </a:ext>
            </a:extLst>
          </p:cNvPr>
          <p:cNvSpPr/>
          <p:nvPr/>
        </p:nvSpPr>
        <p:spPr>
          <a:xfrm>
            <a:off x="457200" y="256032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6126-E3A2-38B8-F2D9-8CD6E086DBEB}"/>
              </a:ext>
            </a:extLst>
          </p:cNvPr>
          <p:cNvSpPr txBox="1"/>
          <p:nvPr/>
        </p:nvSpPr>
        <p:spPr>
          <a:xfrm>
            <a:off x="566928" y="263347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Correção HAC (Newey-West)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6742E-E1B8-337D-DC08-A7479C7C0D21}"/>
              </a:ext>
            </a:extLst>
          </p:cNvPr>
          <p:cNvSpPr txBox="1"/>
          <p:nvPr/>
        </p:nvSpPr>
        <p:spPr>
          <a:xfrm>
            <a:off x="566928" y="2926079"/>
            <a:ext cx="44988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LP acumula autocorrelação MA(h) por construção. Correção com maxlags=h garante erros-padrão corretos e bandas de confiança precisas.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8CAC8-0B6B-BDB8-B87D-A73C20E8CFB2}"/>
              </a:ext>
            </a:extLst>
          </p:cNvPr>
          <p:cNvSpPr/>
          <p:nvPr/>
        </p:nvSpPr>
        <p:spPr>
          <a:xfrm>
            <a:off x="457200" y="379476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5A92B8-6F98-BC32-F992-814FDAEDD130}"/>
              </a:ext>
            </a:extLst>
          </p:cNvPr>
          <p:cNvSpPr/>
          <p:nvPr/>
        </p:nvSpPr>
        <p:spPr>
          <a:xfrm>
            <a:off x="457200" y="379476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39A10-EC71-3BE2-0ACF-D6D201A85C56}"/>
              </a:ext>
            </a:extLst>
          </p:cNvPr>
          <p:cNvSpPr txBox="1"/>
          <p:nvPr/>
        </p:nvSpPr>
        <p:spPr>
          <a:xfrm>
            <a:off x="566928" y="386791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Controles Incluídos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A0025C-4F11-FBD3-6ED7-6BF769AA22D3}"/>
              </a:ext>
            </a:extLst>
          </p:cNvPr>
          <p:cNvSpPr txBox="1"/>
          <p:nvPr/>
        </p:nvSpPr>
        <p:spPr>
          <a:xfrm>
            <a:off x="566928" y="416052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Câmbio R$/USD, IBC-Br (atividade), Selic, Expectativas Focus e Índice Kilian (demanda global de commodities).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E8CF3-AC43-C873-9187-836AA5A4DA95}"/>
              </a:ext>
            </a:extLst>
          </p:cNvPr>
          <p:cNvSpPr/>
          <p:nvPr/>
        </p:nvSpPr>
        <p:spPr>
          <a:xfrm>
            <a:off x="457200" y="5029200"/>
            <a:ext cx="4663440" cy="111556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F9394-607A-4178-5F14-55FEFB864E1C}"/>
              </a:ext>
            </a:extLst>
          </p:cNvPr>
          <p:cNvSpPr/>
          <p:nvPr/>
        </p:nvSpPr>
        <p:spPr>
          <a:xfrm>
            <a:off x="457200" y="5029200"/>
            <a:ext cx="45720" cy="111556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812690-54EC-FC44-042F-397A0707B76B}"/>
              </a:ext>
            </a:extLst>
          </p:cNvPr>
          <p:cNvSpPr txBox="1"/>
          <p:nvPr/>
        </p:nvSpPr>
        <p:spPr>
          <a:xfrm>
            <a:off x="566928" y="5102352"/>
            <a:ext cx="44988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i="0">
                <a:solidFill>
                  <a:srgbClr val="1A6B8A"/>
                </a:solidFill>
                <a:latin typeface="Calibri"/>
              </a:rPr>
              <a:t>Horizonte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BDB3E0-783A-BF87-2806-CEA0ADFED743}"/>
              </a:ext>
            </a:extLst>
          </p:cNvPr>
          <p:cNvSpPr txBox="1"/>
          <p:nvPr/>
        </p:nvSpPr>
        <p:spPr>
          <a:xfrm>
            <a:off x="566928" y="5394960"/>
            <a:ext cx="4498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4A5568"/>
                </a:solidFill>
                <a:latin typeface="Calibri"/>
              </a:rPr>
              <a:t>h = 0 a 12 meses. Cada regressão é independente — sem propagação de erros entre horizontes.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A0C7A9-B33C-17C0-7044-BEEE2397BB78}"/>
              </a:ext>
            </a:extLst>
          </p:cNvPr>
          <p:cNvSpPr/>
          <p:nvPr/>
        </p:nvSpPr>
        <p:spPr>
          <a:xfrm>
            <a:off x="5486400" y="1188720"/>
            <a:ext cx="6309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5B9132-D27E-C19B-1670-04BEDF20AE1A}"/>
              </a:ext>
            </a:extLst>
          </p:cNvPr>
          <p:cNvSpPr/>
          <p:nvPr/>
        </p:nvSpPr>
        <p:spPr>
          <a:xfrm>
            <a:off x="5486400" y="1188720"/>
            <a:ext cx="630936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P_OLS_Kilian_dupla_faixa_ipca_transporte.png">
            <a:extLst>
              <a:ext uri="{FF2B5EF4-FFF2-40B4-BE49-F238E27FC236}">
                <a16:creationId xmlns:a16="http://schemas.microsoft.com/office/drawing/2014/main" id="{E34481DB-E578-0805-5991-8A21FEA1E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72768"/>
            <a:ext cx="6217920" cy="48920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76B35E8-C6F3-9BAB-21F3-CF51739635FC}"/>
              </a:ext>
            </a:extLst>
          </p:cNvPr>
          <p:cNvSpPr txBox="1"/>
          <p:nvPr/>
        </p:nvSpPr>
        <p:spPr>
          <a:xfrm>
            <a:off x="5532120" y="6510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Elaboracao propria. Controles: cambio, IBC-Br, Selic, Focus, Kilian. IC 90% e 95%.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A6930F-8EEB-0132-F9E7-F2AC090753B8}"/>
              </a:ext>
            </a:extLst>
          </p:cNvPr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22AA3-6878-36FC-598F-ED3D4CCDB0B8}"/>
              </a:ext>
            </a:extLst>
          </p:cNvPr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B44946-B9D5-2EFC-43E9-95C4CD56D983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4/12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7438107-2E67-DAC7-20F0-4CD49D159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3" y="174752"/>
            <a:ext cx="12262719" cy="67397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F6516EC-53D4-B7E2-EDE8-814CD4EE0E6A}"/>
              </a:ext>
            </a:extLst>
          </p:cNvPr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CF9176-7960-DF8C-6D5F-827C533B2880}"/>
              </a:ext>
            </a:extLst>
          </p:cNvPr>
          <p:cNvSpPr/>
          <p:nvPr/>
        </p:nvSpPr>
        <p:spPr>
          <a:xfrm>
            <a:off x="-35512" y="6720839"/>
            <a:ext cx="12257840" cy="186375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A3ED6D-B7F6-DBC5-8B7F-552348844EA2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6/16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D3C1DF-028B-4ACB-7C74-3F65A1119EC8}"/>
              </a:ext>
            </a:extLst>
          </p:cNvPr>
          <p:cNvSpPr txBox="1"/>
          <p:nvPr/>
        </p:nvSpPr>
        <p:spPr>
          <a:xfrm>
            <a:off x="2989007" y="3123888"/>
            <a:ext cx="6213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EEB404F-7603-C0DD-419D-D7A850ED1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634" y="192024"/>
            <a:ext cx="12257840" cy="654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3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7D08E-D2ED-34B7-2C29-1C0F2255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924F7E-7C05-C7A2-77D5-7519F77B20CA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13086-CE9A-D80B-64CA-985A3E755B33}"/>
              </a:ext>
            </a:extLst>
          </p:cNvPr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A301F-C506-7F14-FD21-1976D3AB0D40}"/>
              </a:ext>
            </a:extLst>
          </p:cNvPr>
          <p:cNvSpPr txBox="1"/>
          <p:nvPr/>
        </p:nvSpPr>
        <p:spPr>
          <a:xfrm>
            <a:off x="914400" y="256032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800" b="1" dirty="0">
                <a:solidFill>
                  <a:srgbClr val="FFFFFF"/>
                </a:solidFill>
                <a:latin typeface="Calibri"/>
              </a:rPr>
              <a:t>Resultados Encontrados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F2DDE-2380-005E-B551-46D2CDFAA3C5}"/>
              </a:ext>
            </a:extLst>
          </p:cNvPr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42314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Passo 1: A Chegada à Bomba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4A5568"/>
                </a:solidFill>
                <a:latin typeface="Calibri"/>
              </a:rPr>
              <a:t>O canal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primário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está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ativo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choque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do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petróleo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se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transmite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aos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combustíveis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com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ritmos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distintos</a:t>
            </a:r>
            <a:endParaRPr sz="1600" b="0" i="1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438912" y="120700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  <a:latin typeface="Calibri"/>
              </a:rPr>
              <a:t>Diesel</a:t>
            </a:r>
          </a:p>
        </p:txBody>
      </p:sp>
      <p:pic>
        <p:nvPicPr>
          <p:cNvPr id="8" name="Picture 7" descr="LP_OLS_Kilian_dupla_faixa_die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2768"/>
            <a:ext cx="35661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61447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5568"/>
                </a:solidFill>
                <a:latin typeface="Calibri"/>
              </a:rPr>
              <a:t>Repasse ultra-rápido (h=0,1), absorvido em ~3 meses.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4279392" y="120700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8A"/>
                </a:solidFill>
                <a:latin typeface="Calibri"/>
              </a:rPr>
              <a:t>Gasolina A — Refinaria</a:t>
            </a:r>
          </a:p>
        </p:txBody>
      </p:sp>
      <p:pic>
        <p:nvPicPr>
          <p:cNvPr id="13" name="Picture 12" descr="LP_OLS_Kilian_dupla_faixa_gasolina_refina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72768"/>
            <a:ext cx="3566160" cy="448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9392" y="61447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5568"/>
                </a:solidFill>
                <a:latin typeface="Calibri"/>
              </a:rPr>
              <a:t>Acumulação gradual em platôs. Reflete janelas decisórias da Petrobras.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657600" cy="54864"/>
          </a:xfrm>
          <a:prstGeom prst="rect">
            <a:avLst/>
          </a:prstGeom>
          <a:solidFill>
            <a:srgbClr val="1E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119872" y="120700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A44"/>
                </a:solidFill>
                <a:latin typeface="Calibri"/>
              </a:rPr>
              <a:t>Gasolina C — Bomba</a:t>
            </a:r>
          </a:p>
        </p:txBody>
      </p:sp>
      <p:pic>
        <p:nvPicPr>
          <p:cNvPr id="18" name="Picture 17" descr="LP_OLS_Kilian_dupla_faixa_gasol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572768"/>
            <a:ext cx="3566160" cy="4480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9872" y="61447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5568"/>
                </a:solidFill>
                <a:latin typeface="Calibri"/>
              </a:rPr>
              <a:t>Impacto violento, imediato (h=0) e duradouro até h=12. *** em todos os horizontes.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D5F0DF"/>
          </a:solidFill>
          <a:ln w="12700">
            <a:solidFill>
              <a:srgbClr val="1E8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E8A44"/>
                </a:solidFill>
                <a:latin typeface="Calibri"/>
              </a:rPr>
              <a:t>Confirmado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: Todos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os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combustíveis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respondem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positiva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e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significativamente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ao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choque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do Brent.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Gasolina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C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apresenta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o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maior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e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mais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persistente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pass-through (***  </a:t>
            </a:r>
            <a:r>
              <a:rPr sz="1100" b="1" i="0" dirty="0" err="1">
                <a:solidFill>
                  <a:srgbClr val="1E8A44"/>
                </a:solidFill>
                <a:latin typeface="Calibri"/>
              </a:rPr>
              <a:t>em</a:t>
            </a:r>
            <a:r>
              <a:rPr sz="1100" b="1" i="0" dirty="0">
                <a:solidFill>
                  <a:srgbClr val="1E8A44"/>
                </a:solidFill>
                <a:latin typeface="Calibri"/>
              </a:rPr>
              <a:t> h=0 a h=12).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Passo 2: O Epicentro — IPCA Transportes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4A5568"/>
                </a:solidFill>
                <a:latin typeface="Calibri"/>
              </a:rPr>
              <a:t>A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inflação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setorial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: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resposta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acumulada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da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Gasolina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C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sobre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o IPCA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Transportes</a:t>
            </a:r>
            <a:endParaRPr sz="1600" b="0" i="1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3210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3210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C0392B"/>
                </a:solidFill>
                <a:latin typeface="Calibri"/>
              </a:rPr>
              <a:t>Gasolina</a:t>
            </a:r>
            <a:r>
              <a:rPr sz="1600" b="1" i="0" dirty="0">
                <a:solidFill>
                  <a:srgbClr val="C0392B"/>
                </a:solidFill>
                <a:latin typeface="Calibri"/>
              </a:rPr>
              <a:t> C → IPCA </a:t>
            </a:r>
            <a:r>
              <a:rPr sz="1600" b="1" i="0" dirty="0" err="1">
                <a:solidFill>
                  <a:srgbClr val="C0392B"/>
                </a:solidFill>
                <a:latin typeface="Calibri"/>
              </a:rPr>
              <a:t>Transportes</a:t>
            </a:r>
            <a:r>
              <a:rPr sz="1600" b="1" i="0" dirty="0">
                <a:solidFill>
                  <a:srgbClr val="C0392B"/>
                </a:solidFill>
                <a:latin typeface="Calibri"/>
              </a:rPr>
              <a:t>  |  IC 90% e 95%  |  h=0 a 12 meses</a:t>
            </a:r>
          </a:p>
        </p:txBody>
      </p:sp>
      <p:pic>
        <p:nvPicPr>
          <p:cNvPr id="8" name="Picture 7" descr="LP_OLS_Kilian_dupla_faixa_ipca_trans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22960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LP-OLS com Controle Kilian. HAC Newey-West. Transformacoes em ln x 100.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188720"/>
            <a:ext cx="28346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15400" y="1188720"/>
            <a:ext cx="28346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128016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0,269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5232" y="1938528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A5568"/>
                </a:solidFill>
                <a:latin typeface="Calibri"/>
              </a:rPr>
              <a:t>Pass-through
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ih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=0 (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imediato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578608"/>
            <a:ext cx="28346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2578608"/>
            <a:ext cx="28346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267004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0,431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328416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A5568"/>
                </a:solidFill>
                <a:latin typeface="Calibri"/>
              </a:rPr>
              <a:t>Pass-through
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ih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=12 (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persistente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3968496"/>
            <a:ext cx="28346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3968496"/>
            <a:ext cx="283464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0" y="4059935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6B8A"/>
                </a:solidFill>
                <a:latin typeface="Calibri"/>
              </a:rPr>
              <a:t>~43%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718304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A5568"/>
                </a:solidFill>
                <a:latin typeface="Calibri"/>
              </a:rPr>
              <a:t>do 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choque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transferido</a:t>
            </a:r>
            <a:endParaRPr sz="1400" b="0" i="0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15400" y="5358384"/>
            <a:ext cx="28346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5358384"/>
            <a:ext cx="2834640" cy="54864"/>
          </a:xfrm>
          <a:prstGeom prst="rect">
            <a:avLst/>
          </a:prstGeom>
          <a:solidFill>
            <a:srgbClr val="1E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5449824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A44"/>
                </a:solidFill>
                <a:latin typeface="Calibri"/>
              </a:rPr>
              <a:t>t &gt; 3,6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6108192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A5568"/>
                </a:solidFill>
                <a:latin typeface="Calibri"/>
              </a:rPr>
              <a:t>t-stat 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todo</a:t>
            </a:r>
            <a:r>
              <a:rPr sz="1400" b="0" i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5568"/>
                </a:solidFill>
                <a:latin typeface="Calibri"/>
              </a:rPr>
              <a:t>horizonte</a:t>
            </a:r>
            <a:endParaRPr sz="1400" b="0" i="0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675120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800" dirty="0">
                <a:solidFill>
                  <a:srgbClr val="718096"/>
                </a:solidFill>
                <a:latin typeface="Calibri"/>
              </a:rPr>
              <a:t>9</a:t>
            </a:r>
            <a:r>
              <a:rPr sz="800" b="0" i="0" dirty="0">
                <a:solidFill>
                  <a:srgbClr val="718096"/>
                </a:solidFill>
                <a:latin typeface="Calibri"/>
              </a:rPr>
              <a:t>/1</a:t>
            </a:r>
            <a:r>
              <a:rPr lang="pt-BR" sz="800" b="0" i="0" dirty="0">
                <a:solidFill>
                  <a:srgbClr val="718096"/>
                </a:solidFill>
                <a:latin typeface="Calibri"/>
              </a:rPr>
              <a:t>5</a:t>
            </a:r>
          </a:p>
          <a:p>
            <a:pPr algn="r"/>
            <a:endParaRPr sz="800" b="0" i="0" dirty="0">
              <a:solidFill>
                <a:srgbClr val="718096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A Diluição Macro: IPCA Transportes vs. IPCA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4A5568"/>
                </a:solidFill>
                <a:latin typeface="Calibri"/>
              </a:rPr>
              <a:t>O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choque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gera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inflação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aguda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no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setor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, mas se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dilui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na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vasta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cesta de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consumo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do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brasileiro</a:t>
            </a:r>
            <a:endParaRPr sz="1600" b="0" i="1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C0392B"/>
                </a:solidFill>
                <a:latin typeface="Calibri"/>
              </a:rPr>
              <a:t>IPCA </a:t>
            </a:r>
            <a:r>
              <a:rPr sz="1600" b="1" i="0" dirty="0" err="1">
                <a:solidFill>
                  <a:srgbClr val="C0392B"/>
                </a:solidFill>
                <a:latin typeface="Calibri"/>
              </a:rPr>
              <a:t>Transportes</a:t>
            </a:r>
            <a:r>
              <a:rPr sz="1600" b="1" i="0" dirty="0">
                <a:solidFill>
                  <a:srgbClr val="C0392B"/>
                </a:solidFill>
                <a:latin typeface="Calibri"/>
              </a:rPr>
              <a:t>  ✓  (pass-through ~43%)</a:t>
            </a:r>
          </a:p>
        </p:txBody>
      </p:sp>
      <p:pic>
        <p:nvPicPr>
          <p:cNvPr id="8" name="Picture 7" descr="LP_OLS_Kilian_limpo_ipca_trans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669280" cy="4892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9360" y="1188720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07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A5568"/>
                </a:solidFill>
                <a:latin typeface="Calibri"/>
              </a:rPr>
              <a:t>IPCA Geral  (</a:t>
            </a:r>
            <a:r>
              <a:rPr sz="1600" b="1" i="0" dirty="0" err="1">
                <a:solidFill>
                  <a:srgbClr val="4A5568"/>
                </a:solidFill>
                <a:latin typeface="Calibri"/>
              </a:rPr>
              <a:t>efeito</a:t>
            </a:r>
            <a:r>
              <a:rPr sz="1600" b="1" i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A5568"/>
                </a:solidFill>
                <a:latin typeface="Calibri"/>
              </a:rPr>
              <a:t>diluido</a:t>
            </a:r>
            <a:r>
              <a:rPr sz="1600" b="1" i="0" dirty="0">
                <a:solidFill>
                  <a:srgbClr val="4A5568"/>
                </a:solidFill>
                <a:latin typeface="Calibri"/>
              </a:rPr>
              <a:t> — p&lt;0,05 </a:t>
            </a:r>
            <a:r>
              <a:rPr sz="1600" b="1" i="0" dirty="0" err="1">
                <a:solidFill>
                  <a:srgbClr val="4A5568"/>
                </a:solidFill>
                <a:latin typeface="Calibri"/>
              </a:rPr>
              <a:t>apenas</a:t>
            </a:r>
            <a:r>
              <a:rPr sz="1600" b="1" i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A5568"/>
                </a:solidFill>
                <a:latin typeface="Calibri"/>
              </a:rPr>
              <a:t>em</a:t>
            </a:r>
            <a:r>
              <a:rPr sz="1600" b="1" i="0" dirty="0">
                <a:solidFill>
                  <a:srgbClr val="4A5568"/>
                </a:solidFill>
                <a:latin typeface="Calibri"/>
              </a:rPr>
              <a:t> h=0 a h=4)</a:t>
            </a:r>
          </a:p>
        </p:txBody>
      </p:sp>
      <p:pic>
        <p:nvPicPr>
          <p:cNvPr id="12" name="Picture 11" descr="LP_OLS_Kilian_limpo_ipca_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94960" cy="2148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09360" y="3931920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3931920"/>
            <a:ext cx="548640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950208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017"/>
                </a:solidFill>
                <a:latin typeface="Calibri"/>
              </a:rPr>
              <a:t>Diesel → IPCA </a:t>
            </a:r>
            <a:r>
              <a:rPr sz="1300" b="1" i="0" dirty="0" err="1">
                <a:solidFill>
                  <a:srgbClr val="D4A017"/>
                </a:solidFill>
                <a:latin typeface="Calibri"/>
              </a:rPr>
              <a:t>Transportes</a:t>
            </a:r>
            <a:r>
              <a:rPr sz="1300" b="1" i="0" dirty="0">
                <a:solidFill>
                  <a:srgbClr val="D4A017"/>
                </a:solidFill>
                <a:latin typeface="Calibri"/>
              </a:rPr>
              <a:t>  (</a:t>
            </a:r>
            <a:r>
              <a:rPr sz="1300" b="1" i="0" dirty="0" err="1">
                <a:solidFill>
                  <a:srgbClr val="D4A017"/>
                </a:solidFill>
                <a:latin typeface="Calibri"/>
              </a:rPr>
              <a:t>choque</a:t>
            </a:r>
            <a:r>
              <a:rPr sz="1300" b="1" i="0" dirty="0">
                <a:solidFill>
                  <a:srgbClr val="D4A017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D4A017"/>
                </a:solidFill>
                <a:latin typeface="Calibri"/>
              </a:rPr>
              <a:t>temporario</a:t>
            </a:r>
            <a:r>
              <a:rPr sz="1300" b="1" i="0" dirty="0">
                <a:solidFill>
                  <a:srgbClr val="D4A017"/>
                </a:solidFill>
                <a:latin typeface="Calibri"/>
              </a:rPr>
              <a:t>, </a:t>
            </a:r>
            <a:r>
              <a:rPr sz="1300" b="1" i="0" dirty="0" err="1">
                <a:solidFill>
                  <a:srgbClr val="D4A017"/>
                </a:solidFill>
                <a:latin typeface="Calibri"/>
              </a:rPr>
              <a:t>absorvido</a:t>
            </a:r>
            <a:r>
              <a:rPr sz="1300" b="1" i="0" dirty="0">
                <a:solidFill>
                  <a:srgbClr val="D4A017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D4A017"/>
                </a:solidFill>
                <a:latin typeface="Calibri"/>
              </a:rPr>
              <a:t>em</a:t>
            </a:r>
            <a:r>
              <a:rPr sz="1300" b="1" i="0" dirty="0">
                <a:solidFill>
                  <a:srgbClr val="D4A017"/>
                </a:solidFill>
                <a:latin typeface="Calibri"/>
              </a:rPr>
              <a:t> ~3 meses)</a:t>
            </a:r>
          </a:p>
        </p:txBody>
      </p:sp>
      <p:pic>
        <p:nvPicPr>
          <p:cNvPr id="16" name="Picture 15" descr="LP_OLS_Kilian_limpo_dies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97680"/>
            <a:ext cx="5394960" cy="2148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5760" y="6601968"/>
            <a:ext cx="11430000" cy="347472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620256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6B8A"/>
                </a:solidFill>
                <a:latin typeface="Calibri"/>
              </a:rPr>
              <a:t>Gasolina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C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gera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impacto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7x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maior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no IPCA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Transportes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que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no IPCA Geral. IPCA Geral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perde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significância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após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o 5.º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mês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—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choque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de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custo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setorial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A6B8A"/>
                </a:solidFill>
                <a:latin typeface="Calibri"/>
              </a:rPr>
              <a:t>transitório</a:t>
            </a:r>
            <a:r>
              <a:rPr sz="1300" b="1" i="0" dirty="0">
                <a:solidFill>
                  <a:srgbClr val="1A6B8A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15118" y="7319546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800" b="0" i="0" dirty="0">
              <a:solidFill>
                <a:srgbClr val="718096"/>
              </a:solidFill>
              <a:latin typeface="Calibri"/>
            </a:endParaRPr>
          </a:p>
          <a:p>
            <a:pPr algn="l"/>
            <a:endParaRPr sz="800" b="0" i="0" dirty="0">
              <a:solidFill>
                <a:srgbClr val="71809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31880" y="6626662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800" dirty="0">
                <a:solidFill>
                  <a:srgbClr val="718096"/>
                </a:solidFill>
                <a:latin typeface="Calibri"/>
              </a:rPr>
              <a:t>10</a:t>
            </a:r>
            <a:r>
              <a:rPr sz="800" b="0" i="0" dirty="0">
                <a:solidFill>
                  <a:srgbClr val="718096"/>
                </a:solidFill>
                <a:latin typeface="Calibri"/>
              </a:rPr>
              <a:t>/1</a:t>
            </a:r>
            <a:r>
              <a:rPr lang="pt-BR" sz="800" b="0" i="0" dirty="0">
                <a:solidFill>
                  <a:srgbClr val="718096"/>
                </a:solidFill>
                <a:latin typeface="Calibri"/>
              </a:rPr>
              <a:t>5</a:t>
            </a:r>
          </a:p>
          <a:p>
            <a:pPr algn="r"/>
            <a:endParaRPr sz="800" b="0" i="0" dirty="0">
              <a:solidFill>
                <a:srgbClr val="718096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Resultados: Coeficientes e Significância (h=0 a h=6)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4A5568"/>
                </a:solidFill>
                <a:latin typeface="Calibri"/>
              </a:rPr>
              <a:t>Modelo LP-OLS com Controle Kilian (Modelo 10).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Erros-padrão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HAC Newey-West. *** p&lt;0,01  ** p&lt;0,05  * p&lt;0,10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3" y="1188720"/>
            <a:ext cx="277063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118872" y="1261872"/>
            <a:ext cx="2697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Variável Dependente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073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2907792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3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4233672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13833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5559553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9713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6885433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593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8211313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9537193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17352" y="1188720"/>
            <a:ext cx="1307592" cy="460857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10863072" y="1261872"/>
            <a:ext cx="1234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 =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3" y="1649577"/>
            <a:ext cx="2770632" cy="630936"/>
          </a:xfrm>
          <a:prstGeom prst="rect">
            <a:avLst/>
          </a:prstGeom>
          <a:solidFill>
            <a:srgbClr val="D0EAF2"/>
          </a:solidFill>
          <a:ln w="19050">
            <a:solidFill>
              <a:srgbClr val="1E8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73153" y="1649577"/>
            <a:ext cx="54864" cy="630936"/>
          </a:xfrm>
          <a:prstGeom prst="rect">
            <a:avLst/>
          </a:prstGeom>
          <a:solidFill>
            <a:srgbClr val="1E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164592" y="1759305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A44"/>
                </a:solidFill>
                <a:latin typeface="Calibri"/>
              </a:rPr>
              <a:t>Gasolina C (Bomba)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2073" y="1649577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2880361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0.683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1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3" y="1649577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4206240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1.406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13833" y="1649577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5532120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1.602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9713" y="1649577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6858001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1.534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1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5593" y="1649577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8183880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1.352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1472" y="1649577"/>
            <a:ext cx="1307592" cy="630936"/>
          </a:xfrm>
          <a:prstGeom prst="rect">
            <a:avLst/>
          </a:prstGeom>
          <a:solidFill>
            <a:srgbClr val="FDF3D8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TextBox 39"/>
          <p:cNvSpPr txBox="1"/>
          <p:nvPr/>
        </p:nvSpPr>
        <p:spPr>
          <a:xfrm>
            <a:off x="9509760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1.254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**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17352" y="1649577"/>
            <a:ext cx="1307592" cy="630936"/>
          </a:xfrm>
          <a:prstGeom prst="rect">
            <a:avLst/>
          </a:prstGeom>
          <a:solidFill>
            <a:srgbClr val="FDF3D8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10835640" y="169529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1.125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199704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**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3" y="2307945"/>
            <a:ext cx="2770632" cy="63093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6" name="Rectangle 45"/>
          <p:cNvSpPr/>
          <p:nvPr/>
        </p:nvSpPr>
        <p:spPr>
          <a:xfrm>
            <a:off x="73153" y="2307945"/>
            <a:ext cx="54864" cy="630936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164592" y="2417673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8A"/>
                </a:solidFill>
                <a:latin typeface="Calibri"/>
              </a:rPr>
              <a:t>Gasolina A (Refinaria)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62073" y="2307945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TextBox 48"/>
          <p:cNvSpPr txBox="1"/>
          <p:nvPr/>
        </p:nvSpPr>
        <p:spPr>
          <a:xfrm>
            <a:off x="2880361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0.706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1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87953" y="2307945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2" name="TextBox 51"/>
          <p:cNvSpPr txBox="1"/>
          <p:nvPr/>
        </p:nvSpPr>
        <p:spPr>
          <a:xfrm>
            <a:off x="4206240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1.452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13833" y="2307945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5" name="TextBox 54"/>
          <p:cNvSpPr txBox="1"/>
          <p:nvPr/>
        </p:nvSpPr>
        <p:spPr>
          <a:xfrm>
            <a:off x="5532120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1.701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2120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9713" y="2307945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8" name="TextBox 57"/>
          <p:cNvSpPr txBox="1"/>
          <p:nvPr/>
        </p:nvSpPr>
        <p:spPr>
          <a:xfrm>
            <a:off x="6858001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1.591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1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65593" y="2307945"/>
            <a:ext cx="1307592" cy="630936"/>
          </a:xfrm>
          <a:prstGeom prst="rect">
            <a:avLst/>
          </a:prstGeom>
          <a:solidFill>
            <a:srgbClr val="FDF3D8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1" name="TextBox 60"/>
          <p:cNvSpPr txBox="1"/>
          <p:nvPr/>
        </p:nvSpPr>
        <p:spPr>
          <a:xfrm>
            <a:off x="8183880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1.413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**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91472" y="2307945"/>
            <a:ext cx="1307592" cy="630936"/>
          </a:xfrm>
          <a:prstGeom prst="rect">
            <a:avLst/>
          </a:prstGeom>
          <a:solidFill>
            <a:srgbClr val="FAE5E3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4" name="TextBox 63"/>
          <p:cNvSpPr txBox="1"/>
          <p:nvPr/>
        </p:nvSpPr>
        <p:spPr>
          <a:xfrm>
            <a:off x="9509760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1.296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17352" y="2307945"/>
            <a:ext cx="1307592" cy="630936"/>
          </a:xfrm>
          <a:prstGeom prst="rect">
            <a:avLst/>
          </a:prstGeom>
          <a:solidFill>
            <a:srgbClr val="FAE5E3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TextBox 66"/>
          <p:cNvSpPr txBox="1"/>
          <p:nvPr/>
        </p:nvSpPr>
        <p:spPr>
          <a:xfrm>
            <a:off x="10835640" y="235366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1.150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5640" y="2655417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*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3" y="2966313"/>
            <a:ext cx="2770632" cy="630936"/>
          </a:xfrm>
          <a:prstGeom prst="rect">
            <a:avLst/>
          </a:prstGeom>
          <a:solidFill>
            <a:srgbClr val="D0EAF2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0" name="Rectangle 69"/>
          <p:cNvSpPr/>
          <p:nvPr/>
        </p:nvSpPr>
        <p:spPr>
          <a:xfrm>
            <a:off x="73153" y="2966313"/>
            <a:ext cx="54864" cy="630936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1" name="TextBox 70"/>
          <p:cNvSpPr txBox="1"/>
          <p:nvPr/>
        </p:nvSpPr>
        <p:spPr>
          <a:xfrm>
            <a:off x="164592" y="3076041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  <a:latin typeface="Calibri"/>
              </a:rPr>
              <a:t>Diesel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62073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3" name="TextBox 72"/>
          <p:cNvSpPr txBox="1"/>
          <p:nvPr/>
        </p:nvSpPr>
        <p:spPr>
          <a:xfrm>
            <a:off x="2880361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0.700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0361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87953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6" name="TextBox 75"/>
          <p:cNvSpPr txBox="1"/>
          <p:nvPr/>
        </p:nvSpPr>
        <p:spPr>
          <a:xfrm>
            <a:off x="4206240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1.397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6240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13833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9" name="TextBox 78"/>
          <p:cNvSpPr txBox="1"/>
          <p:nvPr/>
        </p:nvSpPr>
        <p:spPr>
          <a:xfrm>
            <a:off x="5532120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1.902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32120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39713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2" name="TextBox 81"/>
          <p:cNvSpPr txBox="1"/>
          <p:nvPr/>
        </p:nvSpPr>
        <p:spPr>
          <a:xfrm>
            <a:off x="6858001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1.861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1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65593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5" name="TextBox 84"/>
          <p:cNvSpPr txBox="1"/>
          <p:nvPr/>
        </p:nvSpPr>
        <p:spPr>
          <a:xfrm>
            <a:off x="8183880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1.926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83880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91472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8" name="TextBox 87"/>
          <p:cNvSpPr txBox="1"/>
          <p:nvPr/>
        </p:nvSpPr>
        <p:spPr>
          <a:xfrm>
            <a:off x="9509760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1.899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09760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17352" y="2966313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1" name="TextBox 90"/>
          <p:cNvSpPr txBox="1"/>
          <p:nvPr/>
        </p:nvSpPr>
        <p:spPr>
          <a:xfrm>
            <a:off x="10835640" y="301203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1.993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35640" y="3313785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153" y="3624681"/>
            <a:ext cx="2770632" cy="630936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4" name="Rectangle 93"/>
          <p:cNvSpPr/>
          <p:nvPr/>
        </p:nvSpPr>
        <p:spPr>
          <a:xfrm>
            <a:off x="73153" y="3624681"/>
            <a:ext cx="54864" cy="6309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5" name="TextBox 94"/>
          <p:cNvSpPr txBox="1"/>
          <p:nvPr/>
        </p:nvSpPr>
        <p:spPr>
          <a:xfrm>
            <a:off x="164592" y="3734409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IPCA Transportes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62073" y="3624681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7" name="TextBox 96"/>
          <p:cNvSpPr txBox="1"/>
          <p:nvPr/>
        </p:nvSpPr>
        <p:spPr>
          <a:xfrm>
            <a:off x="2880361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0.166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80361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87953" y="3624681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0" name="TextBox 99"/>
          <p:cNvSpPr txBox="1"/>
          <p:nvPr/>
        </p:nvSpPr>
        <p:spPr>
          <a:xfrm>
            <a:off x="4206240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0.373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06240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13833" y="3624681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3" name="TextBox 102"/>
          <p:cNvSpPr txBox="1"/>
          <p:nvPr/>
        </p:nvSpPr>
        <p:spPr>
          <a:xfrm>
            <a:off x="5532120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0.458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32120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39713" y="3624681"/>
            <a:ext cx="1307592" cy="630936"/>
          </a:xfrm>
          <a:prstGeom prst="rect">
            <a:avLst/>
          </a:prstGeom>
          <a:solidFill>
            <a:srgbClr val="D5F0D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6" name="TextBox 105"/>
          <p:cNvSpPr txBox="1"/>
          <p:nvPr/>
        </p:nvSpPr>
        <p:spPr>
          <a:xfrm>
            <a:off x="6858001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0.461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1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A44"/>
                </a:solidFill>
                <a:latin typeface="Calibri"/>
              </a:rPr>
              <a:t>***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165593" y="3624681"/>
            <a:ext cx="1307592" cy="630936"/>
          </a:xfrm>
          <a:prstGeom prst="rect">
            <a:avLst/>
          </a:prstGeom>
          <a:solidFill>
            <a:srgbClr val="FDF3D8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9" name="TextBox 108"/>
          <p:cNvSpPr txBox="1"/>
          <p:nvPr/>
        </p:nvSpPr>
        <p:spPr>
          <a:xfrm>
            <a:off x="8183880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0.439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83880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**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91472" y="3624681"/>
            <a:ext cx="1307592" cy="630936"/>
          </a:xfrm>
          <a:prstGeom prst="rect">
            <a:avLst/>
          </a:prstGeom>
          <a:solidFill>
            <a:srgbClr val="FDF3D8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2" name="TextBox 111"/>
          <p:cNvSpPr txBox="1"/>
          <p:nvPr/>
        </p:nvSpPr>
        <p:spPr>
          <a:xfrm>
            <a:off x="9509760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0.428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09760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**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817352" y="3624681"/>
            <a:ext cx="1307592" cy="630936"/>
          </a:xfrm>
          <a:prstGeom prst="rect">
            <a:avLst/>
          </a:prstGeom>
          <a:solidFill>
            <a:srgbClr val="FAE5E3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5" name="TextBox 114"/>
          <p:cNvSpPr txBox="1"/>
          <p:nvPr/>
        </p:nvSpPr>
        <p:spPr>
          <a:xfrm>
            <a:off x="10835640" y="367040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0.365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35640" y="3972153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*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153" y="4283049"/>
            <a:ext cx="2770632" cy="630936"/>
          </a:xfrm>
          <a:prstGeom prst="rect">
            <a:avLst/>
          </a:prstGeom>
          <a:solidFill>
            <a:srgbClr val="D0EAF2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8" name="Rectangle 117"/>
          <p:cNvSpPr/>
          <p:nvPr/>
        </p:nvSpPr>
        <p:spPr>
          <a:xfrm>
            <a:off x="73153" y="4283049"/>
            <a:ext cx="54864" cy="63093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9" name="TextBox 118"/>
          <p:cNvSpPr txBox="1"/>
          <p:nvPr/>
        </p:nvSpPr>
        <p:spPr>
          <a:xfrm>
            <a:off x="164592" y="4392777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</a:rPr>
              <a:t>IPCA Geral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862073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1" name="TextBox 120"/>
          <p:cNvSpPr txBox="1"/>
          <p:nvPr/>
        </p:nvSpPr>
        <p:spPr>
          <a:xfrm>
            <a:off x="2880361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-0.004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80361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23" name="Rectangle 122"/>
          <p:cNvSpPr/>
          <p:nvPr/>
        </p:nvSpPr>
        <p:spPr>
          <a:xfrm>
            <a:off x="4187953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4" name="TextBox 123"/>
          <p:cNvSpPr txBox="1"/>
          <p:nvPr/>
        </p:nvSpPr>
        <p:spPr>
          <a:xfrm>
            <a:off x="4206240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0.040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26" name="Rectangle 125"/>
          <p:cNvSpPr/>
          <p:nvPr/>
        </p:nvSpPr>
        <p:spPr>
          <a:xfrm>
            <a:off x="5513833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7" name="TextBox 126"/>
          <p:cNvSpPr txBox="1"/>
          <p:nvPr/>
        </p:nvSpPr>
        <p:spPr>
          <a:xfrm>
            <a:off x="5532120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0.054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32120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29" name="Rectangle 128"/>
          <p:cNvSpPr/>
          <p:nvPr/>
        </p:nvSpPr>
        <p:spPr>
          <a:xfrm>
            <a:off x="6839713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0" name="TextBox 129"/>
          <p:cNvSpPr txBox="1"/>
          <p:nvPr/>
        </p:nvSpPr>
        <p:spPr>
          <a:xfrm>
            <a:off x="6858001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0.063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58001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32" name="Rectangle 131"/>
          <p:cNvSpPr/>
          <p:nvPr/>
        </p:nvSpPr>
        <p:spPr>
          <a:xfrm>
            <a:off x="8165593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3" name="TextBox 132"/>
          <p:cNvSpPr txBox="1"/>
          <p:nvPr/>
        </p:nvSpPr>
        <p:spPr>
          <a:xfrm>
            <a:off x="8183880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0.058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183880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35" name="Rectangle 134"/>
          <p:cNvSpPr/>
          <p:nvPr/>
        </p:nvSpPr>
        <p:spPr>
          <a:xfrm>
            <a:off x="9491472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6" name="TextBox 135"/>
          <p:cNvSpPr txBox="1"/>
          <p:nvPr/>
        </p:nvSpPr>
        <p:spPr>
          <a:xfrm>
            <a:off x="9509760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0.052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09760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38" name="Rectangle 137"/>
          <p:cNvSpPr/>
          <p:nvPr/>
        </p:nvSpPr>
        <p:spPr>
          <a:xfrm>
            <a:off x="10817352" y="4283049"/>
            <a:ext cx="1307592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9" name="TextBox 138"/>
          <p:cNvSpPr txBox="1"/>
          <p:nvPr/>
        </p:nvSpPr>
        <p:spPr>
          <a:xfrm>
            <a:off x="10835640" y="432876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0.015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35640" y="4630521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/>
          </a:p>
        </p:txBody>
      </p:sp>
      <p:sp>
        <p:nvSpPr>
          <p:cNvPr id="141" name="Rectangle 140"/>
          <p:cNvSpPr/>
          <p:nvPr/>
        </p:nvSpPr>
        <p:spPr>
          <a:xfrm>
            <a:off x="73153" y="5051145"/>
            <a:ext cx="411480" cy="320040"/>
          </a:xfrm>
          <a:prstGeom prst="rect">
            <a:avLst/>
          </a:prstGeom>
          <a:solidFill>
            <a:srgbClr val="D5F0DF"/>
          </a:solidFill>
          <a:ln w="12700">
            <a:solidFill>
              <a:srgbClr val="1E8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2" name="TextBox 141"/>
          <p:cNvSpPr txBox="1"/>
          <p:nvPr/>
        </p:nvSpPr>
        <p:spPr>
          <a:xfrm>
            <a:off x="530353" y="509686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p &lt; 0,01 (***)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907793" y="5051145"/>
            <a:ext cx="411480" cy="320040"/>
          </a:xfrm>
          <a:prstGeom prst="rect">
            <a:avLst/>
          </a:prstGeom>
          <a:solidFill>
            <a:srgbClr val="FDF3D8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4" name="TextBox 143"/>
          <p:cNvSpPr txBox="1"/>
          <p:nvPr/>
        </p:nvSpPr>
        <p:spPr>
          <a:xfrm>
            <a:off x="3364993" y="509686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p &lt; 0,05 (**) 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42433" y="5051145"/>
            <a:ext cx="411480" cy="32004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6" name="TextBox 145"/>
          <p:cNvSpPr txBox="1"/>
          <p:nvPr/>
        </p:nvSpPr>
        <p:spPr>
          <a:xfrm>
            <a:off x="6199633" y="509686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p &lt; 0,10 (*)  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77073" y="5051145"/>
            <a:ext cx="411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8" name="TextBox 147"/>
          <p:cNvSpPr txBox="1"/>
          <p:nvPr/>
        </p:nvSpPr>
        <p:spPr>
          <a:xfrm>
            <a:off x="9034273" y="509686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ns           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040" y="5462625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18096"/>
                </a:solidFill>
                <a:latin typeface="Calibri"/>
              </a:rPr>
              <a:t>Nota: Coeficientes representam p.p. acumulados de resposta do preco do combustivel (ou do IPCA) a um aumento de 1 p.p. no preco da Gasolina C. Transformacoes: dln x 100.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O Clímax: A Válvula da Petrobras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5568"/>
                </a:solidFill>
                <a:latin typeface="Calibri"/>
              </a:rPr>
              <a:t>A quebra institucional de setembro/2016 alterou a física do repasse inflacionário (Teste de Wald p&lt;0,05)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9494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949440" cy="5486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137"/>
                </a:solidFill>
                <a:latin typeface="Calibri"/>
              </a:rPr>
              <a:t>IPCA Transportes: Pré-2016 (azul) vs. Pós-2016/PPI (vermelho)</a:t>
            </a:r>
          </a:p>
        </p:txBody>
      </p:sp>
      <p:pic>
        <p:nvPicPr>
          <p:cNvPr id="8" name="Picture 7" descr="SD_LP_ipca_transporte_men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94944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922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Fonte: Modelo LP State-Dependent (Modelo 12). Corte: set/2016 (PPI Petrobras). IC 90%.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887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137"/>
                </a:solidFill>
                <a:latin typeface="Calibri"/>
              </a:rPr>
              <a:t>Dois Brasis Institucionais: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64208"/>
            <a:ext cx="4206240" cy="1417320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7589520" y="1664208"/>
            <a:ext cx="45720" cy="141732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7699248" y="1737360"/>
            <a:ext cx="4041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8A"/>
                </a:solidFill>
                <a:latin typeface="Calibri"/>
              </a:rPr>
              <a:t>Fase Azul — Pré-2016 (Precos Administrados)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029968"/>
            <a:ext cx="40416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A Petrobras fecha a válvula. O choque internacional morre nos portões da refinaria. Repasse estatisticamente nulo em todos os horizontes.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218688"/>
            <a:ext cx="4206240" cy="141732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7589520" y="3218688"/>
            <a:ext cx="4572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699248" y="3291840"/>
            <a:ext cx="4041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Fase Vermelha — Pós-2016 (PPI)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584448"/>
            <a:ext cx="4041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Adoção da Política de Paridade de Importação. O choque fura o bloqueio com fluxo livre. Repasse imediato e robusto em h=0 a h=12.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773168"/>
            <a:ext cx="4206240" cy="1143000"/>
          </a:xfrm>
          <a:prstGeom prst="rect">
            <a:avLst/>
          </a:prstGeom>
          <a:solidFill>
            <a:srgbClr val="0D2137"/>
          </a:solidFill>
          <a:ln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7726679" y="48463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Teste de Wald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166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  <a:latin typeface="Calibri"/>
              </a:rPr>
              <a:t>p &lt; 0,05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4915453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FFFFF"/>
                </a:solidFill>
                <a:latin typeface="Calibri"/>
              </a:rPr>
              <a:t>Diferença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estrutural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
entre regimes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confirmada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6035040"/>
            <a:ext cx="4206240" cy="68580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9248" y="6035040"/>
            <a:ext cx="4023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A1A2E"/>
                </a:solidFill>
                <a:latin typeface="Calibri"/>
              </a:rPr>
              <a:t>Após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2016, o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Brasil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tornou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-se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mais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vulnerável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tensões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geopolíticas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globais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antes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ficavam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retidas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A1A2E"/>
                </a:solidFill>
                <a:latin typeface="Calibri"/>
              </a:rPr>
              <a:t>na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 Petrobras.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O Teste de Estresse: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4A5568"/>
                </a:solidFill>
                <a:latin typeface="Calibri"/>
              </a:rPr>
              <a:t>Validando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a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causalidade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e a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dinâmica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do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sistema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com duas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estratégias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4A5568"/>
                </a:solidFill>
                <a:latin typeface="Calibri"/>
              </a:rPr>
              <a:t>independentes</a:t>
            </a:r>
            <a:endParaRPr sz="1600" b="0" i="1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  <a:latin typeface="Calibri"/>
              </a:rPr>
              <a:t>Abordagem VAR (Robustez Dinamica)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94960" cy="1051560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  <a:latin typeface="Calibri"/>
              </a:rPr>
              <a:t>✓  Sistema autorregressivo confirma integralmente a hierarquia das respostas das Local Projections.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62072"/>
            <a:ext cx="5394960" cy="1051560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935224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  <a:latin typeface="Calibri"/>
              </a:rPr>
              <a:t>✓  IPCA Transportes reage forte; IPCA Geral permanece estatisticamente insignificante após h=5.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32504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566928" y="4105656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tx2"/>
                </a:solidFill>
                <a:latin typeface="Calibri"/>
              </a:rPr>
              <a:t>Ordenação</a:t>
            </a:r>
            <a:r>
              <a:rPr sz="1600" b="0" i="0" dirty="0">
                <a:solidFill>
                  <a:schemeClr val="tx2"/>
                </a:solidFill>
                <a:latin typeface="Calibri"/>
              </a:rPr>
              <a:t> de Cholesky: Brent → </a:t>
            </a:r>
            <a:r>
              <a:rPr sz="1600" b="0" i="0" dirty="0" err="1">
                <a:solidFill>
                  <a:schemeClr val="tx2"/>
                </a:solidFill>
                <a:latin typeface="Calibri"/>
              </a:rPr>
              <a:t>Câmbio</a:t>
            </a:r>
            <a:r>
              <a:rPr sz="1600" b="0" i="0" dirty="0">
                <a:solidFill>
                  <a:schemeClr val="tx2"/>
                </a:solidFill>
                <a:latin typeface="Calibri"/>
              </a:rPr>
              <a:t> → </a:t>
            </a:r>
            <a:r>
              <a:rPr sz="1600" b="0" i="0" dirty="0" err="1">
                <a:solidFill>
                  <a:schemeClr val="tx2"/>
                </a:solidFill>
                <a:latin typeface="Calibri"/>
              </a:rPr>
              <a:t>Combustível</a:t>
            </a:r>
            <a:r>
              <a:rPr sz="1600" b="0" i="0" dirty="0">
                <a:solidFill>
                  <a:schemeClr val="tx2"/>
                </a:solidFill>
                <a:latin typeface="Calibri"/>
              </a:rPr>
              <a:t> → IPCA.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02936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566928" y="527608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Resultados do VAR disponíveis no Apêndice A do TCC.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55778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400800" y="1207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Filtro de Endogeneidade (LP-IV)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94960" cy="105156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510528" y="1764792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✓  Instrumento: Oil Supply News Shock (Känzig, 2021) — surpresas de oferta da OPEP, ortogonais à demanda brasileira.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862072"/>
            <a:ext cx="5394960" cy="105156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510528" y="2935224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✓  Estatística F do 1.º Estágio: ~120  &gt;&gt;&gt;  limiar de instrumento fraco de Staiger &amp; Stock (F &gt; 10).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32504"/>
            <a:ext cx="5394960" cy="1051560"/>
          </a:xfrm>
          <a:prstGeom prst="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510528" y="4105656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✓  Coeficientes LP-IV ≈ LP-OLS em todos os horizontes — viés de endogeneidade é desprezível.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202936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510528" y="527608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Conclusão: relação medida é causal, robusta e resistente.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9884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Instrumento
FORTE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601968"/>
            <a:ext cx="11430000" cy="347472"/>
          </a:xfrm>
          <a:prstGeom prst="rect">
            <a:avLst/>
          </a:prstGeom>
          <a:solidFill>
            <a:srgbClr val="0D2137"/>
          </a:solidFill>
          <a:ln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6202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Conclusao Economica: A relacao medida e causal, robusta e resistente a endogeneidade. LP-OLS e LP-IV produzem resultados virtualmente identicos.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11/13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97E055-DB94-F1DA-C1FE-3A4E9D271C08}"/>
              </a:ext>
            </a:extLst>
          </p:cNvPr>
          <p:cNvSpPr/>
          <p:nvPr/>
        </p:nvSpPr>
        <p:spPr>
          <a:xfrm>
            <a:off x="457200" y="4044676"/>
            <a:ext cx="5394960" cy="1051560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DE540E-9583-DFB9-DF05-592D83C283D7}"/>
              </a:ext>
            </a:extLst>
          </p:cNvPr>
          <p:cNvSpPr txBox="1"/>
          <p:nvPr/>
        </p:nvSpPr>
        <p:spPr>
          <a:xfrm>
            <a:off x="566928" y="411782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chemeClr val="tx2"/>
                </a:solidFill>
                <a:latin typeface="Calibri"/>
              </a:rPr>
              <a:t>✓</a:t>
            </a:r>
            <a:r>
              <a:rPr lang="pt-BR" sz="1600" b="1" i="0" dirty="0">
                <a:solidFill>
                  <a:schemeClr val="tx2"/>
                </a:solidFill>
                <a:latin typeface="Calibri"/>
              </a:rPr>
              <a:t>  Ordenação de </a:t>
            </a:r>
            <a:r>
              <a:rPr lang="pt-BR" sz="1600" b="1" i="0" dirty="0" err="1">
                <a:solidFill>
                  <a:schemeClr val="tx2"/>
                </a:solidFill>
                <a:latin typeface="Calibri"/>
              </a:rPr>
              <a:t>Cholesky</a:t>
            </a:r>
            <a:r>
              <a:rPr lang="pt-BR" sz="1600" b="1" i="0" dirty="0">
                <a:solidFill>
                  <a:schemeClr val="tx2"/>
                </a:solidFill>
                <a:latin typeface="Calibri"/>
              </a:rPr>
              <a:t>: Brent</a:t>
            </a:r>
            <a:r>
              <a:rPr lang="pt-BR" sz="1600" b="1" dirty="0">
                <a:solidFill>
                  <a:schemeClr val="tx2"/>
                </a:solidFill>
              </a:rPr>
              <a:t> → Câmbio → </a:t>
            </a:r>
            <a:r>
              <a:rPr lang="pt-BR" sz="1600" b="1" dirty="0" err="1">
                <a:solidFill>
                  <a:schemeClr val="tx2"/>
                </a:solidFill>
              </a:rPr>
              <a:t>Combustivel</a:t>
            </a:r>
            <a:r>
              <a:rPr lang="pt-BR" sz="1600" b="1" dirty="0">
                <a:solidFill>
                  <a:schemeClr val="tx2"/>
                </a:solidFill>
              </a:rPr>
              <a:t> → IPCA</a:t>
            </a:r>
            <a:endParaRPr sz="1600" b="1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A História Completa: Três Achados Centrais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Resultados robustos, consistentes entre si e com a literatura macroeconômica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0972800" cy="1627632"/>
          </a:xfrm>
          <a:prstGeom prst="rect">
            <a:avLst/>
          </a:prstGeom>
          <a:solidFill>
            <a:srgbClr val="D0EAF2"/>
          </a:solidFill>
          <a:ln w="1905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1627632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475488" y="1435608"/>
            <a:ext cx="914400" cy="1097280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475488" y="1581912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25880"/>
            <a:ext cx="7955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i="0">
                <a:solidFill>
                  <a:srgbClr val="1A6B8A"/>
                </a:solidFill>
                <a:latin typeface="Calibri"/>
              </a:rPr>
              <a:t>O Duto Está 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09928"/>
            <a:ext cx="79552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>
                <a:solidFill>
                  <a:srgbClr val="1A1A2E"/>
                </a:solidFill>
                <a:latin typeface="Calibri"/>
              </a:rPr>
              <a:t>O choque externo do Brent transborda de fato para a bomba de gasolina. Diesel e Gasolina A respondem com força (*** em h=0 a h=2). Gasolina C mantém significância estatística em todo o horizonte de 12 meses.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399032"/>
            <a:ext cx="1600200" cy="1298448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9646920" y="1554480"/>
            <a:ext cx="160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*** todos os
combustíveis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0972800" cy="1627632"/>
          </a:xfrm>
          <a:prstGeom prst="rect">
            <a:avLst/>
          </a:prstGeom>
          <a:solidFill>
            <a:srgbClr val="FAE5E3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73152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475488" y="3218688"/>
            <a:ext cx="91440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75488" y="3364991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8960"/>
            <a:ext cx="7955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i="0">
                <a:solidFill>
                  <a:srgbClr val="C0392B"/>
                </a:solidFill>
                <a:latin typeface="Calibri"/>
              </a:rPr>
              <a:t>A Inflação é Setorial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93008"/>
            <a:ext cx="79552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>
                <a:solidFill>
                  <a:srgbClr val="1A1A2E"/>
                </a:solidFill>
                <a:latin typeface="Calibri"/>
              </a:rPr>
              <a:t>O repasse esmaga o IPCA Transportes (~43% acumulado, t&gt;3,6 em h=0 a 12), mas se dilui e perde força estatística no IPCA Geral após o 5.º mês. Típico de choque de custo energético setorial e transitório.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3182112"/>
            <a:ext cx="1600200" cy="1298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160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Pass-through
~43%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0972800" cy="1627632"/>
          </a:xfrm>
          <a:prstGeom prst="rect">
            <a:avLst/>
          </a:prstGeom>
          <a:solidFill>
            <a:srgbClr val="D0EAF2"/>
          </a:solidFill>
          <a:ln w="19050"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 dirty="0"/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73152" cy="1627632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/>
          </a:p>
        </p:txBody>
      </p:sp>
      <p:sp>
        <p:nvSpPr>
          <p:cNvPr id="23" name="Rectangle 22"/>
          <p:cNvSpPr/>
          <p:nvPr/>
        </p:nvSpPr>
        <p:spPr>
          <a:xfrm>
            <a:off x="475488" y="5001768"/>
            <a:ext cx="914400" cy="109728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475488" y="5148072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92040"/>
            <a:ext cx="7955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i="0">
                <a:solidFill>
                  <a:srgbClr val="0D2137"/>
                </a:solidFill>
                <a:latin typeface="Calibri"/>
              </a:rPr>
              <a:t>A Instituição Importa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276088"/>
            <a:ext cx="79552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>
                <a:solidFill>
                  <a:srgbClr val="1A1A2E"/>
                </a:solidFill>
                <a:latin typeface="Calibri"/>
              </a:rPr>
              <a:t>O PPI de 2016 foi uma quebra estrutural comprovada pelo Teste de Wald (p&lt;0,05). Pré-2016: repasse bloqueado. Pós-2016: imediato e robusto. A política de preços da Petrobras é a verdadeira válvula da inflação energética no Brasil.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4965192"/>
            <a:ext cx="1600200" cy="129844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9646920" y="5120640"/>
            <a:ext cx="160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Wald
p &lt; 0,05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 err="1">
                <a:solidFill>
                  <a:srgbClr val="FFFFFF"/>
                </a:solidFill>
                <a:latin typeface="Calibri"/>
              </a:rPr>
              <a:t>Muito</a:t>
            </a:r>
            <a:r>
              <a:rPr sz="5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5400" b="1" i="0" dirty="0" err="1">
                <a:solidFill>
                  <a:srgbClr val="FFFFFF"/>
                </a:solidFill>
                <a:latin typeface="Calibri"/>
              </a:rPr>
              <a:t>Obrigado</a:t>
            </a:r>
            <a:r>
              <a:rPr lang="pt-BR" sz="5400" b="1" dirty="0">
                <a:solidFill>
                  <a:srgbClr val="FFFFFF"/>
                </a:solidFill>
                <a:latin typeface="Calibri"/>
              </a:rPr>
              <a:t>!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6B8A"/>
                </a:solidFill>
                <a:latin typeface="Calibri"/>
              </a:rPr>
              <a:t>Pedro Franck Minella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CFD8E3"/>
                </a:solidFill>
                <a:latin typeface="Calibri"/>
              </a:rPr>
              <a:t>Aberto </a:t>
            </a:r>
            <a:r>
              <a:rPr lang="pt-BR" sz="1400" i="1" dirty="0">
                <a:solidFill>
                  <a:srgbClr val="CFD8E3"/>
                </a:solidFill>
                <a:latin typeface="Calibri"/>
              </a:rPr>
              <a:t>a discussão </a:t>
            </a:r>
            <a:endParaRPr sz="1400" b="0" i="1" dirty="0">
              <a:solidFill>
                <a:srgbClr val="CFD8E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698480" cy="36576"/>
          </a:xfrm>
          <a:prstGeom prst="rect">
            <a:avLst/>
          </a:prstGeom>
          <a:solidFill>
            <a:srgbClr val="1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137"/>
                </a:solidFill>
                <a:latin typeface="Calibri"/>
              </a:rPr>
              <a:t>Modelos Utilizados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5943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·  Modelo 10 — LP-OLS com Controle Kilian (baseline principal)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54296"/>
            <a:ext cx="5943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·  Modelo 12 — LP State-Dependent por Regime de Preco da Petrobras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84064"/>
            <a:ext cx="5943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·  Modelo 9  — LP-IV com Oil Supply News Shock (Kanzig, 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13832"/>
            <a:ext cx="5943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·  Apendice  — VAR (Robustez Dinamica)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94760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137"/>
                </a:solidFill>
                <a:latin typeface="Calibri"/>
              </a:rPr>
              <a:t>Referencias Principais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24528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4A5568"/>
                </a:solidFill>
                <a:latin typeface="Calibri"/>
              </a:rPr>
              <a:t>Jorda, O. (2005). Estimation and Inference of IRFs by LP. AER.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331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4A5568"/>
                </a:solidFill>
                <a:latin typeface="Calibri"/>
              </a:rPr>
              <a:t>Kilian, L. (2009). Not All Oil Price Shocks Are Alike. AER.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927665"/>
            <a:ext cx="5029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4A5568"/>
                </a:solidFill>
                <a:latin typeface="Calibri"/>
              </a:rPr>
              <a:t>Kanzig, D. (2021). The Macroeconomic Effects of Oil Supply News. AER.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513832"/>
            <a:ext cx="5029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4A5568"/>
                </a:solidFill>
                <a:latin typeface="Calibri"/>
              </a:rPr>
              <a:t>Ramey, V. (2016). Macroeconomic Shocks and Their Propagation. HBM.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698480" cy="475488"/>
          </a:xfrm>
          <a:prstGeom prst="rect">
            <a:avLst/>
          </a:prstGeom>
          <a:solidFill>
            <a:srgbClr val="D0EAF2"/>
          </a:solidFill>
          <a:ln w="12700">
            <a:solidFill>
              <a:srgbClr val="1A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868680" y="63367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1A6B8A"/>
                </a:solidFill>
                <a:latin typeface="Calibri"/>
              </a:rPr>
              <a:t>p</a:t>
            </a:r>
            <a:r>
              <a:rPr sz="1400" b="0" i="0" dirty="0" err="1">
                <a:solidFill>
                  <a:srgbClr val="1A6B8A"/>
                </a:solidFill>
                <a:latin typeface="Calibri"/>
              </a:rPr>
              <a:t>edro</a:t>
            </a:r>
            <a:r>
              <a:rPr lang="pt-BR" sz="1400" b="0" i="0" dirty="0">
                <a:solidFill>
                  <a:srgbClr val="1A6B8A"/>
                </a:solidFill>
                <a:latin typeface="Calibri"/>
              </a:rPr>
              <a:t>.</a:t>
            </a:r>
            <a:r>
              <a:rPr sz="1400" b="0" i="0" dirty="0" err="1">
                <a:solidFill>
                  <a:srgbClr val="1A6B8A"/>
                </a:solidFill>
                <a:latin typeface="Calibri"/>
              </a:rPr>
              <a:t>minella</a:t>
            </a:r>
            <a:r>
              <a:rPr lang="pt-BR" sz="1400" b="0" i="0" dirty="0">
                <a:solidFill>
                  <a:srgbClr val="1A6B8A"/>
                </a:solidFill>
                <a:latin typeface="Calibri"/>
              </a:rPr>
              <a:t>1</a:t>
            </a:r>
            <a:r>
              <a:rPr sz="1400" b="0" i="0" dirty="0">
                <a:solidFill>
                  <a:srgbClr val="1A6B8A"/>
                </a:solidFill>
                <a:latin typeface="Calibri"/>
              </a:rPr>
              <a:t>@gmail.com   |   </a:t>
            </a:r>
            <a:r>
              <a:rPr sz="1400" b="0" i="0" dirty="0" err="1">
                <a:solidFill>
                  <a:srgbClr val="1A6B8A"/>
                </a:solidFill>
                <a:latin typeface="Calibri"/>
              </a:rPr>
              <a:t>Ibmec</a:t>
            </a:r>
            <a:r>
              <a:rPr sz="1400" b="0" i="0" dirty="0">
                <a:solidFill>
                  <a:srgbClr val="1A6B8A"/>
                </a:solidFill>
                <a:latin typeface="Calibri"/>
              </a:rPr>
              <a:t>-DF, 2026   |   </a:t>
            </a:r>
            <a:r>
              <a:rPr sz="1400" b="0" i="0" dirty="0" err="1">
                <a:solidFill>
                  <a:srgbClr val="1A6B8A"/>
                </a:solidFill>
                <a:latin typeface="Calibri"/>
              </a:rPr>
              <a:t>Orientador</a:t>
            </a:r>
            <a:r>
              <a:rPr sz="1400" b="0" i="0" dirty="0">
                <a:solidFill>
                  <a:srgbClr val="1A6B8A"/>
                </a:solidFill>
                <a:latin typeface="Calibri"/>
              </a:rPr>
              <a:t>: Prof. Silvio Costa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9144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675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Pedro Franck Minella  |  TCC Ibmec-DF  |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75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2310</Words>
  <Application>Microsoft Office PowerPoint</Application>
  <PresentationFormat>Widescreen</PresentationFormat>
  <Paragraphs>299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Franck Minella</cp:lastModifiedBy>
  <cp:revision>15</cp:revision>
  <dcterms:created xsi:type="dcterms:W3CDTF">2013-01-27T09:14:16Z</dcterms:created>
  <dcterms:modified xsi:type="dcterms:W3CDTF">2026-06-02T07:09:36Z</dcterms:modified>
  <cp:category/>
</cp:coreProperties>
</file>